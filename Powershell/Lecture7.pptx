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48" r:id="rId2"/>
  </p:sldMasterIdLst>
  <p:notesMasterIdLst>
    <p:notesMasterId r:id="rId29"/>
  </p:notesMasterIdLst>
  <p:sldIdLst>
    <p:sldId id="314" r:id="rId3"/>
    <p:sldId id="286" r:id="rId4"/>
    <p:sldId id="287" r:id="rId5"/>
    <p:sldId id="288" r:id="rId6"/>
    <p:sldId id="289" r:id="rId7"/>
    <p:sldId id="290" r:id="rId8"/>
    <p:sldId id="309" r:id="rId9"/>
    <p:sldId id="291" r:id="rId10"/>
    <p:sldId id="292" r:id="rId11"/>
    <p:sldId id="293" r:id="rId12"/>
    <p:sldId id="294" r:id="rId13"/>
    <p:sldId id="295" r:id="rId14"/>
    <p:sldId id="296" r:id="rId15"/>
    <p:sldId id="297" r:id="rId16"/>
    <p:sldId id="298" r:id="rId17"/>
    <p:sldId id="299" r:id="rId18"/>
    <p:sldId id="300" r:id="rId19"/>
    <p:sldId id="301" r:id="rId20"/>
    <p:sldId id="302" r:id="rId21"/>
    <p:sldId id="303" r:id="rId22"/>
    <p:sldId id="304" r:id="rId23"/>
    <p:sldId id="305" r:id="rId24"/>
    <p:sldId id="310" r:id="rId25"/>
    <p:sldId id="307" r:id="rId26"/>
    <p:sldId id="306" r:id="rId27"/>
    <p:sldId id="308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gEX" id="{CB741779-11CF-40A2-A701-162FE30BA97A}">
          <p14:sldIdLst>
            <p14:sldId id="314"/>
            <p14:sldId id="286"/>
            <p14:sldId id="287"/>
            <p14:sldId id="288"/>
            <p14:sldId id="289"/>
            <p14:sldId id="290"/>
            <p14:sldId id="309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10"/>
            <p14:sldId id="307"/>
            <p14:sldId id="306"/>
            <p14:sldId id="30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eoffrey Beers" initials="GB" lastIdx="1" clrIdx="0">
    <p:extLst>
      <p:ext uri="{19B8F6BF-5375-455C-9EA6-DF929625EA0E}">
        <p15:presenceInfo xmlns:p15="http://schemas.microsoft.com/office/powerpoint/2012/main" userId="03403cbe2991293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1E37F8-4F3F-48B3-B74A-3839D1CEB9EC}" v="1" dt="2024-02-06T14:08:10.3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67364" autoAdjust="0"/>
  </p:normalViewPr>
  <p:slideViewPr>
    <p:cSldViewPr snapToGrid="0">
      <p:cViewPr varScale="1">
        <p:scale>
          <a:sx n="55" d="100"/>
          <a:sy n="55" d="100"/>
        </p:scale>
        <p:origin x="18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commentAuthors" Target="commentAuthors.xml"/><Relationship Id="rId35" Type="http://schemas.microsoft.com/office/2016/11/relationships/changesInfo" Target="changesInfos/changesInfo1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nklin, Gar (NBCC)" userId="52ff30d7-4605-496e-8e2f-a1e8a6915e17" providerId="ADAL" clId="{FF1E37F8-4F3F-48B3-B74A-3839D1CEB9EC}"/>
    <pc:docChg chg="addSld delSld modSld sldOrd addMainMaster delMainMaster modMainMaster delSection modSection">
      <pc:chgData name="Conklin, Gar (NBCC)" userId="52ff30d7-4605-496e-8e2f-a1e8a6915e17" providerId="ADAL" clId="{FF1E37F8-4F3F-48B3-B74A-3839D1CEB9EC}" dt="2024-02-06T14:11:20.393" v="41" actId="47"/>
      <pc:docMkLst>
        <pc:docMk/>
      </pc:docMkLst>
      <pc:sldChg chg="del">
        <pc:chgData name="Conklin, Gar (NBCC)" userId="52ff30d7-4605-496e-8e2f-a1e8a6915e17" providerId="ADAL" clId="{FF1E37F8-4F3F-48B3-B74A-3839D1CEB9EC}" dt="2024-02-06T14:09:05.715" v="10" actId="18676"/>
        <pc:sldMkLst>
          <pc:docMk/>
          <pc:sldMk cId="4244653331" sldId="256"/>
        </pc:sldMkLst>
      </pc:sldChg>
      <pc:sldChg chg="del">
        <pc:chgData name="Conklin, Gar (NBCC)" userId="52ff30d7-4605-496e-8e2f-a1e8a6915e17" providerId="ADAL" clId="{FF1E37F8-4F3F-48B3-B74A-3839D1CEB9EC}" dt="2024-02-06T14:09:05.715" v="10" actId="18676"/>
        <pc:sldMkLst>
          <pc:docMk/>
          <pc:sldMk cId="967044918" sldId="257"/>
        </pc:sldMkLst>
      </pc:sldChg>
      <pc:sldChg chg="del">
        <pc:chgData name="Conklin, Gar (NBCC)" userId="52ff30d7-4605-496e-8e2f-a1e8a6915e17" providerId="ADAL" clId="{FF1E37F8-4F3F-48B3-B74A-3839D1CEB9EC}" dt="2024-02-06T14:09:05.715" v="10" actId="18676"/>
        <pc:sldMkLst>
          <pc:docMk/>
          <pc:sldMk cId="3243176362" sldId="258"/>
        </pc:sldMkLst>
      </pc:sldChg>
      <pc:sldChg chg="del">
        <pc:chgData name="Conklin, Gar (NBCC)" userId="52ff30d7-4605-496e-8e2f-a1e8a6915e17" providerId="ADAL" clId="{FF1E37F8-4F3F-48B3-B74A-3839D1CEB9EC}" dt="2024-02-06T14:09:05.715" v="10" actId="18676"/>
        <pc:sldMkLst>
          <pc:docMk/>
          <pc:sldMk cId="260638160" sldId="259"/>
        </pc:sldMkLst>
      </pc:sldChg>
      <pc:sldChg chg="del">
        <pc:chgData name="Conklin, Gar (NBCC)" userId="52ff30d7-4605-496e-8e2f-a1e8a6915e17" providerId="ADAL" clId="{FF1E37F8-4F3F-48B3-B74A-3839D1CEB9EC}" dt="2024-02-06T14:09:05.715" v="10" actId="18676"/>
        <pc:sldMkLst>
          <pc:docMk/>
          <pc:sldMk cId="1856128349" sldId="260"/>
        </pc:sldMkLst>
      </pc:sldChg>
      <pc:sldChg chg="del">
        <pc:chgData name="Conklin, Gar (NBCC)" userId="52ff30d7-4605-496e-8e2f-a1e8a6915e17" providerId="ADAL" clId="{FF1E37F8-4F3F-48B3-B74A-3839D1CEB9EC}" dt="2024-02-06T14:09:05.715" v="10" actId="18676"/>
        <pc:sldMkLst>
          <pc:docMk/>
          <pc:sldMk cId="3570844881" sldId="261"/>
        </pc:sldMkLst>
      </pc:sldChg>
      <pc:sldChg chg="del">
        <pc:chgData name="Conklin, Gar (NBCC)" userId="52ff30d7-4605-496e-8e2f-a1e8a6915e17" providerId="ADAL" clId="{FF1E37F8-4F3F-48B3-B74A-3839D1CEB9EC}" dt="2024-02-06T14:09:05.715" v="10" actId="18676"/>
        <pc:sldMkLst>
          <pc:docMk/>
          <pc:sldMk cId="2584317261" sldId="262"/>
        </pc:sldMkLst>
      </pc:sldChg>
      <pc:sldChg chg="del">
        <pc:chgData name="Conklin, Gar (NBCC)" userId="52ff30d7-4605-496e-8e2f-a1e8a6915e17" providerId="ADAL" clId="{FF1E37F8-4F3F-48B3-B74A-3839D1CEB9EC}" dt="2024-02-06T14:09:05.715" v="10" actId="18676"/>
        <pc:sldMkLst>
          <pc:docMk/>
          <pc:sldMk cId="1098090904" sldId="263"/>
        </pc:sldMkLst>
      </pc:sldChg>
      <pc:sldChg chg="del">
        <pc:chgData name="Conklin, Gar (NBCC)" userId="52ff30d7-4605-496e-8e2f-a1e8a6915e17" providerId="ADAL" clId="{FF1E37F8-4F3F-48B3-B74A-3839D1CEB9EC}" dt="2024-02-06T14:09:05.715" v="10" actId="18676"/>
        <pc:sldMkLst>
          <pc:docMk/>
          <pc:sldMk cId="3595218853" sldId="264"/>
        </pc:sldMkLst>
      </pc:sldChg>
      <pc:sldChg chg="del">
        <pc:chgData name="Conklin, Gar (NBCC)" userId="52ff30d7-4605-496e-8e2f-a1e8a6915e17" providerId="ADAL" clId="{FF1E37F8-4F3F-48B3-B74A-3839D1CEB9EC}" dt="2024-02-06T14:09:05.715" v="10" actId="18676"/>
        <pc:sldMkLst>
          <pc:docMk/>
          <pc:sldMk cId="1456727670" sldId="265"/>
        </pc:sldMkLst>
      </pc:sldChg>
      <pc:sldChg chg="del">
        <pc:chgData name="Conklin, Gar (NBCC)" userId="52ff30d7-4605-496e-8e2f-a1e8a6915e17" providerId="ADAL" clId="{FF1E37F8-4F3F-48B3-B74A-3839D1CEB9EC}" dt="2024-02-06T14:09:05.715" v="10" actId="18676"/>
        <pc:sldMkLst>
          <pc:docMk/>
          <pc:sldMk cId="2315248758" sldId="266"/>
        </pc:sldMkLst>
      </pc:sldChg>
      <pc:sldChg chg="del">
        <pc:chgData name="Conklin, Gar (NBCC)" userId="52ff30d7-4605-496e-8e2f-a1e8a6915e17" providerId="ADAL" clId="{FF1E37F8-4F3F-48B3-B74A-3839D1CEB9EC}" dt="2024-02-06T14:09:05.715" v="10" actId="18676"/>
        <pc:sldMkLst>
          <pc:docMk/>
          <pc:sldMk cId="737677741" sldId="267"/>
        </pc:sldMkLst>
      </pc:sldChg>
      <pc:sldChg chg="del">
        <pc:chgData name="Conklin, Gar (NBCC)" userId="52ff30d7-4605-496e-8e2f-a1e8a6915e17" providerId="ADAL" clId="{FF1E37F8-4F3F-48B3-B74A-3839D1CEB9EC}" dt="2024-02-06T14:09:05.715" v="10" actId="18676"/>
        <pc:sldMkLst>
          <pc:docMk/>
          <pc:sldMk cId="1283881355" sldId="268"/>
        </pc:sldMkLst>
      </pc:sldChg>
      <pc:sldChg chg="del">
        <pc:chgData name="Conklin, Gar (NBCC)" userId="52ff30d7-4605-496e-8e2f-a1e8a6915e17" providerId="ADAL" clId="{FF1E37F8-4F3F-48B3-B74A-3839D1CEB9EC}" dt="2024-02-06T14:09:05.715" v="10" actId="18676"/>
        <pc:sldMkLst>
          <pc:docMk/>
          <pc:sldMk cId="946656788" sldId="269"/>
        </pc:sldMkLst>
      </pc:sldChg>
      <pc:sldChg chg="del">
        <pc:chgData name="Conklin, Gar (NBCC)" userId="52ff30d7-4605-496e-8e2f-a1e8a6915e17" providerId="ADAL" clId="{FF1E37F8-4F3F-48B3-B74A-3839D1CEB9EC}" dt="2024-02-06T14:09:05.715" v="10" actId="18676"/>
        <pc:sldMkLst>
          <pc:docMk/>
          <pc:sldMk cId="1027567396" sldId="270"/>
        </pc:sldMkLst>
      </pc:sldChg>
      <pc:sldChg chg="del">
        <pc:chgData name="Conklin, Gar (NBCC)" userId="52ff30d7-4605-496e-8e2f-a1e8a6915e17" providerId="ADAL" clId="{FF1E37F8-4F3F-48B3-B74A-3839D1CEB9EC}" dt="2024-02-06T14:09:05.715" v="10" actId="18676"/>
        <pc:sldMkLst>
          <pc:docMk/>
          <pc:sldMk cId="1168724245" sldId="271"/>
        </pc:sldMkLst>
      </pc:sldChg>
      <pc:sldChg chg="del">
        <pc:chgData name="Conklin, Gar (NBCC)" userId="52ff30d7-4605-496e-8e2f-a1e8a6915e17" providerId="ADAL" clId="{FF1E37F8-4F3F-48B3-B74A-3839D1CEB9EC}" dt="2024-02-06T14:09:08.737" v="11" actId="18676"/>
        <pc:sldMkLst>
          <pc:docMk/>
          <pc:sldMk cId="3689643090" sldId="272"/>
        </pc:sldMkLst>
      </pc:sldChg>
      <pc:sldChg chg="del">
        <pc:chgData name="Conklin, Gar (NBCC)" userId="52ff30d7-4605-496e-8e2f-a1e8a6915e17" providerId="ADAL" clId="{FF1E37F8-4F3F-48B3-B74A-3839D1CEB9EC}" dt="2024-02-06T14:09:08.737" v="11" actId="18676"/>
        <pc:sldMkLst>
          <pc:docMk/>
          <pc:sldMk cId="3251806300" sldId="273"/>
        </pc:sldMkLst>
      </pc:sldChg>
      <pc:sldChg chg="del">
        <pc:chgData name="Conklin, Gar (NBCC)" userId="52ff30d7-4605-496e-8e2f-a1e8a6915e17" providerId="ADAL" clId="{FF1E37F8-4F3F-48B3-B74A-3839D1CEB9EC}" dt="2024-02-06T14:09:08.737" v="11" actId="18676"/>
        <pc:sldMkLst>
          <pc:docMk/>
          <pc:sldMk cId="3308008235" sldId="274"/>
        </pc:sldMkLst>
      </pc:sldChg>
      <pc:sldChg chg="del">
        <pc:chgData name="Conklin, Gar (NBCC)" userId="52ff30d7-4605-496e-8e2f-a1e8a6915e17" providerId="ADAL" clId="{FF1E37F8-4F3F-48B3-B74A-3839D1CEB9EC}" dt="2024-02-06T14:09:08.737" v="11" actId="18676"/>
        <pc:sldMkLst>
          <pc:docMk/>
          <pc:sldMk cId="1785464596" sldId="275"/>
        </pc:sldMkLst>
      </pc:sldChg>
      <pc:sldChg chg="del">
        <pc:chgData name="Conklin, Gar (NBCC)" userId="52ff30d7-4605-496e-8e2f-a1e8a6915e17" providerId="ADAL" clId="{FF1E37F8-4F3F-48B3-B74A-3839D1CEB9EC}" dt="2024-02-06T14:09:08.737" v="11" actId="18676"/>
        <pc:sldMkLst>
          <pc:docMk/>
          <pc:sldMk cId="3793214960" sldId="276"/>
        </pc:sldMkLst>
      </pc:sldChg>
      <pc:sldChg chg="del">
        <pc:chgData name="Conklin, Gar (NBCC)" userId="52ff30d7-4605-496e-8e2f-a1e8a6915e17" providerId="ADAL" clId="{FF1E37F8-4F3F-48B3-B74A-3839D1CEB9EC}" dt="2024-02-06T14:09:08.737" v="11" actId="18676"/>
        <pc:sldMkLst>
          <pc:docMk/>
          <pc:sldMk cId="2601985461" sldId="277"/>
        </pc:sldMkLst>
      </pc:sldChg>
      <pc:sldChg chg="del">
        <pc:chgData name="Conklin, Gar (NBCC)" userId="52ff30d7-4605-496e-8e2f-a1e8a6915e17" providerId="ADAL" clId="{FF1E37F8-4F3F-48B3-B74A-3839D1CEB9EC}" dt="2024-02-06T14:09:08.737" v="11" actId="18676"/>
        <pc:sldMkLst>
          <pc:docMk/>
          <pc:sldMk cId="3046193010" sldId="278"/>
        </pc:sldMkLst>
      </pc:sldChg>
      <pc:sldChg chg="del">
        <pc:chgData name="Conklin, Gar (NBCC)" userId="52ff30d7-4605-496e-8e2f-a1e8a6915e17" providerId="ADAL" clId="{FF1E37F8-4F3F-48B3-B74A-3839D1CEB9EC}" dt="2024-02-06T14:09:08.737" v="11" actId="18676"/>
        <pc:sldMkLst>
          <pc:docMk/>
          <pc:sldMk cId="4157731290" sldId="279"/>
        </pc:sldMkLst>
      </pc:sldChg>
      <pc:sldChg chg="del">
        <pc:chgData name="Conklin, Gar (NBCC)" userId="52ff30d7-4605-496e-8e2f-a1e8a6915e17" providerId="ADAL" clId="{FF1E37F8-4F3F-48B3-B74A-3839D1CEB9EC}" dt="2024-02-06T14:09:08.737" v="11" actId="18676"/>
        <pc:sldMkLst>
          <pc:docMk/>
          <pc:sldMk cId="2935163634" sldId="280"/>
        </pc:sldMkLst>
      </pc:sldChg>
      <pc:sldChg chg="del">
        <pc:chgData name="Conklin, Gar (NBCC)" userId="52ff30d7-4605-496e-8e2f-a1e8a6915e17" providerId="ADAL" clId="{FF1E37F8-4F3F-48B3-B74A-3839D1CEB9EC}" dt="2024-02-06T14:09:08.737" v="11" actId="18676"/>
        <pc:sldMkLst>
          <pc:docMk/>
          <pc:sldMk cId="3404383675" sldId="281"/>
        </pc:sldMkLst>
      </pc:sldChg>
      <pc:sldChg chg="del">
        <pc:chgData name="Conklin, Gar (NBCC)" userId="52ff30d7-4605-496e-8e2f-a1e8a6915e17" providerId="ADAL" clId="{FF1E37F8-4F3F-48B3-B74A-3839D1CEB9EC}" dt="2024-02-06T14:09:08.737" v="11" actId="18676"/>
        <pc:sldMkLst>
          <pc:docMk/>
          <pc:sldMk cId="3249115896" sldId="282"/>
        </pc:sldMkLst>
      </pc:sldChg>
      <pc:sldChg chg="del">
        <pc:chgData name="Conklin, Gar (NBCC)" userId="52ff30d7-4605-496e-8e2f-a1e8a6915e17" providerId="ADAL" clId="{FF1E37F8-4F3F-48B3-B74A-3839D1CEB9EC}" dt="2024-02-06T14:09:08.737" v="11" actId="18676"/>
        <pc:sldMkLst>
          <pc:docMk/>
          <pc:sldMk cId="4250288551" sldId="283"/>
        </pc:sldMkLst>
      </pc:sldChg>
      <pc:sldChg chg="del">
        <pc:chgData name="Conklin, Gar (NBCC)" userId="52ff30d7-4605-496e-8e2f-a1e8a6915e17" providerId="ADAL" clId="{FF1E37F8-4F3F-48B3-B74A-3839D1CEB9EC}" dt="2024-02-06T14:09:08.737" v="11" actId="18676"/>
        <pc:sldMkLst>
          <pc:docMk/>
          <pc:sldMk cId="3227184981" sldId="284"/>
        </pc:sldMkLst>
      </pc:sldChg>
      <pc:sldChg chg="del">
        <pc:chgData name="Conklin, Gar (NBCC)" userId="52ff30d7-4605-496e-8e2f-a1e8a6915e17" providerId="ADAL" clId="{FF1E37F8-4F3F-48B3-B74A-3839D1CEB9EC}" dt="2024-02-06T14:09:08.737" v="11" actId="18676"/>
        <pc:sldMkLst>
          <pc:docMk/>
          <pc:sldMk cId="1710121845" sldId="285"/>
        </pc:sldMkLst>
      </pc:sldChg>
      <pc:sldChg chg="mod modShow">
        <pc:chgData name="Conklin, Gar (NBCC)" userId="52ff30d7-4605-496e-8e2f-a1e8a6915e17" providerId="ADAL" clId="{FF1E37F8-4F3F-48B3-B74A-3839D1CEB9EC}" dt="2024-02-06T14:11:10.810" v="40" actId="729"/>
        <pc:sldMkLst>
          <pc:docMk/>
          <pc:sldMk cId="1952490400" sldId="286"/>
        </pc:sldMkLst>
      </pc:sldChg>
      <pc:sldChg chg="mod modShow">
        <pc:chgData name="Conklin, Gar (NBCC)" userId="52ff30d7-4605-496e-8e2f-a1e8a6915e17" providerId="ADAL" clId="{FF1E37F8-4F3F-48B3-B74A-3839D1CEB9EC}" dt="2024-02-06T14:11:10.810" v="40" actId="729"/>
        <pc:sldMkLst>
          <pc:docMk/>
          <pc:sldMk cId="383378641" sldId="287"/>
        </pc:sldMkLst>
      </pc:sldChg>
      <pc:sldChg chg="mod modShow">
        <pc:chgData name="Conklin, Gar (NBCC)" userId="52ff30d7-4605-496e-8e2f-a1e8a6915e17" providerId="ADAL" clId="{FF1E37F8-4F3F-48B3-B74A-3839D1CEB9EC}" dt="2024-02-06T14:11:10.810" v="40" actId="729"/>
        <pc:sldMkLst>
          <pc:docMk/>
          <pc:sldMk cId="1547203490" sldId="288"/>
        </pc:sldMkLst>
      </pc:sldChg>
      <pc:sldChg chg="mod modShow">
        <pc:chgData name="Conklin, Gar (NBCC)" userId="52ff30d7-4605-496e-8e2f-a1e8a6915e17" providerId="ADAL" clId="{FF1E37F8-4F3F-48B3-B74A-3839D1CEB9EC}" dt="2024-02-06T14:11:10.810" v="40" actId="729"/>
        <pc:sldMkLst>
          <pc:docMk/>
          <pc:sldMk cId="137723858" sldId="289"/>
        </pc:sldMkLst>
      </pc:sldChg>
      <pc:sldChg chg="mod modShow">
        <pc:chgData name="Conklin, Gar (NBCC)" userId="52ff30d7-4605-496e-8e2f-a1e8a6915e17" providerId="ADAL" clId="{FF1E37F8-4F3F-48B3-B74A-3839D1CEB9EC}" dt="2024-02-06T14:11:10.810" v="40" actId="729"/>
        <pc:sldMkLst>
          <pc:docMk/>
          <pc:sldMk cId="1210476415" sldId="290"/>
        </pc:sldMkLst>
      </pc:sldChg>
      <pc:sldChg chg="mod modShow">
        <pc:chgData name="Conklin, Gar (NBCC)" userId="52ff30d7-4605-496e-8e2f-a1e8a6915e17" providerId="ADAL" clId="{FF1E37F8-4F3F-48B3-B74A-3839D1CEB9EC}" dt="2024-02-06T14:11:10.810" v="40" actId="729"/>
        <pc:sldMkLst>
          <pc:docMk/>
          <pc:sldMk cId="2359077716" sldId="291"/>
        </pc:sldMkLst>
      </pc:sldChg>
      <pc:sldChg chg="mod modShow">
        <pc:chgData name="Conklin, Gar (NBCC)" userId="52ff30d7-4605-496e-8e2f-a1e8a6915e17" providerId="ADAL" clId="{FF1E37F8-4F3F-48B3-B74A-3839D1CEB9EC}" dt="2024-02-06T14:11:10.810" v="40" actId="729"/>
        <pc:sldMkLst>
          <pc:docMk/>
          <pc:sldMk cId="2685642512" sldId="292"/>
        </pc:sldMkLst>
      </pc:sldChg>
      <pc:sldChg chg="mod modShow">
        <pc:chgData name="Conklin, Gar (NBCC)" userId="52ff30d7-4605-496e-8e2f-a1e8a6915e17" providerId="ADAL" clId="{FF1E37F8-4F3F-48B3-B74A-3839D1CEB9EC}" dt="2024-02-06T14:11:10.810" v="40" actId="729"/>
        <pc:sldMkLst>
          <pc:docMk/>
          <pc:sldMk cId="3598237829" sldId="293"/>
        </pc:sldMkLst>
      </pc:sldChg>
      <pc:sldChg chg="mod modShow">
        <pc:chgData name="Conklin, Gar (NBCC)" userId="52ff30d7-4605-496e-8e2f-a1e8a6915e17" providerId="ADAL" clId="{FF1E37F8-4F3F-48B3-B74A-3839D1CEB9EC}" dt="2024-02-06T14:11:10.810" v="40" actId="729"/>
        <pc:sldMkLst>
          <pc:docMk/>
          <pc:sldMk cId="818821806" sldId="294"/>
        </pc:sldMkLst>
      </pc:sldChg>
      <pc:sldChg chg="mod modShow">
        <pc:chgData name="Conklin, Gar (NBCC)" userId="52ff30d7-4605-496e-8e2f-a1e8a6915e17" providerId="ADAL" clId="{FF1E37F8-4F3F-48B3-B74A-3839D1CEB9EC}" dt="2024-02-06T14:11:10.810" v="40" actId="729"/>
        <pc:sldMkLst>
          <pc:docMk/>
          <pc:sldMk cId="2777461613" sldId="295"/>
        </pc:sldMkLst>
      </pc:sldChg>
      <pc:sldChg chg="mod modShow">
        <pc:chgData name="Conklin, Gar (NBCC)" userId="52ff30d7-4605-496e-8e2f-a1e8a6915e17" providerId="ADAL" clId="{FF1E37F8-4F3F-48B3-B74A-3839D1CEB9EC}" dt="2024-02-06T14:11:10.810" v="40" actId="729"/>
        <pc:sldMkLst>
          <pc:docMk/>
          <pc:sldMk cId="3684496822" sldId="296"/>
        </pc:sldMkLst>
      </pc:sldChg>
      <pc:sldChg chg="mod modShow">
        <pc:chgData name="Conklin, Gar (NBCC)" userId="52ff30d7-4605-496e-8e2f-a1e8a6915e17" providerId="ADAL" clId="{FF1E37F8-4F3F-48B3-B74A-3839D1CEB9EC}" dt="2024-02-06T14:11:10.810" v="40" actId="729"/>
        <pc:sldMkLst>
          <pc:docMk/>
          <pc:sldMk cId="2151109084" sldId="297"/>
        </pc:sldMkLst>
      </pc:sldChg>
      <pc:sldChg chg="mod modShow">
        <pc:chgData name="Conklin, Gar (NBCC)" userId="52ff30d7-4605-496e-8e2f-a1e8a6915e17" providerId="ADAL" clId="{FF1E37F8-4F3F-48B3-B74A-3839D1CEB9EC}" dt="2024-02-06T14:11:10.810" v="40" actId="729"/>
        <pc:sldMkLst>
          <pc:docMk/>
          <pc:sldMk cId="967404955" sldId="298"/>
        </pc:sldMkLst>
      </pc:sldChg>
      <pc:sldChg chg="mod modShow">
        <pc:chgData name="Conklin, Gar (NBCC)" userId="52ff30d7-4605-496e-8e2f-a1e8a6915e17" providerId="ADAL" clId="{FF1E37F8-4F3F-48B3-B74A-3839D1CEB9EC}" dt="2024-02-06T14:11:10.810" v="40" actId="729"/>
        <pc:sldMkLst>
          <pc:docMk/>
          <pc:sldMk cId="2406646346" sldId="299"/>
        </pc:sldMkLst>
      </pc:sldChg>
      <pc:sldChg chg="mod modShow">
        <pc:chgData name="Conklin, Gar (NBCC)" userId="52ff30d7-4605-496e-8e2f-a1e8a6915e17" providerId="ADAL" clId="{FF1E37F8-4F3F-48B3-B74A-3839D1CEB9EC}" dt="2024-02-06T14:11:10.810" v="40" actId="729"/>
        <pc:sldMkLst>
          <pc:docMk/>
          <pc:sldMk cId="3153615388" sldId="300"/>
        </pc:sldMkLst>
      </pc:sldChg>
      <pc:sldChg chg="mod modShow">
        <pc:chgData name="Conklin, Gar (NBCC)" userId="52ff30d7-4605-496e-8e2f-a1e8a6915e17" providerId="ADAL" clId="{FF1E37F8-4F3F-48B3-B74A-3839D1CEB9EC}" dt="2024-02-06T14:11:10.810" v="40" actId="729"/>
        <pc:sldMkLst>
          <pc:docMk/>
          <pc:sldMk cId="657922999" sldId="301"/>
        </pc:sldMkLst>
      </pc:sldChg>
      <pc:sldChg chg="mod modShow">
        <pc:chgData name="Conklin, Gar (NBCC)" userId="52ff30d7-4605-496e-8e2f-a1e8a6915e17" providerId="ADAL" clId="{FF1E37F8-4F3F-48B3-B74A-3839D1CEB9EC}" dt="2024-02-06T14:11:10.810" v="40" actId="729"/>
        <pc:sldMkLst>
          <pc:docMk/>
          <pc:sldMk cId="3574072265" sldId="302"/>
        </pc:sldMkLst>
      </pc:sldChg>
      <pc:sldChg chg="mod modShow">
        <pc:chgData name="Conklin, Gar (NBCC)" userId="52ff30d7-4605-496e-8e2f-a1e8a6915e17" providerId="ADAL" clId="{FF1E37F8-4F3F-48B3-B74A-3839D1CEB9EC}" dt="2024-02-06T14:11:10.810" v="40" actId="729"/>
        <pc:sldMkLst>
          <pc:docMk/>
          <pc:sldMk cId="2078704050" sldId="303"/>
        </pc:sldMkLst>
      </pc:sldChg>
      <pc:sldChg chg="mod modShow">
        <pc:chgData name="Conklin, Gar (NBCC)" userId="52ff30d7-4605-496e-8e2f-a1e8a6915e17" providerId="ADAL" clId="{FF1E37F8-4F3F-48B3-B74A-3839D1CEB9EC}" dt="2024-02-06T14:11:10.810" v="40" actId="729"/>
        <pc:sldMkLst>
          <pc:docMk/>
          <pc:sldMk cId="2327771214" sldId="304"/>
        </pc:sldMkLst>
      </pc:sldChg>
      <pc:sldChg chg="mod modShow">
        <pc:chgData name="Conklin, Gar (NBCC)" userId="52ff30d7-4605-496e-8e2f-a1e8a6915e17" providerId="ADAL" clId="{FF1E37F8-4F3F-48B3-B74A-3839D1CEB9EC}" dt="2024-02-06T14:11:10.810" v="40" actId="729"/>
        <pc:sldMkLst>
          <pc:docMk/>
          <pc:sldMk cId="63178533" sldId="305"/>
        </pc:sldMkLst>
      </pc:sldChg>
      <pc:sldChg chg="mod modShow">
        <pc:chgData name="Conklin, Gar (NBCC)" userId="52ff30d7-4605-496e-8e2f-a1e8a6915e17" providerId="ADAL" clId="{FF1E37F8-4F3F-48B3-B74A-3839D1CEB9EC}" dt="2024-02-06T14:11:10.810" v="40" actId="729"/>
        <pc:sldMkLst>
          <pc:docMk/>
          <pc:sldMk cId="1985615378" sldId="306"/>
        </pc:sldMkLst>
      </pc:sldChg>
      <pc:sldChg chg="mod modShow">
        <pc:chgData name="Conklin, Gar (NBCC)" userId="52ff30d7-4605-496e-8e2f-a1e8a6915e17" providerId="ADAL" clId="{FF1E37F8-4F3F-48B3-B74A-3839D1CEB9EC}" dt="2024-02-06T14:11:10.810" v="40" actId="729"/>
        <pc:sldMkLst>
          <pc:docMk/>
          <pc:sldMk cId="1299283451" sldId="307"/>
        </pc:sldMkLst>
      </pc:sldChg>
      <pc:sldChg chg="mod modShow">
        <pc:chgData name="Conklin, Gar (NBCC)" userId="52ff30d7-4605-496e-8e2f-a1e8a6915e17" providerId="ADAL" clId="{FF1E37F8-4F3F-48B3-B74A-3839D1CEB9EC}" dt="2024-02-06T14:11:10.810" v="40" actId="729"/>
        <pc:sldMkLst>
          <pc:docMk/>
          <pc:sldMk cId="3848376905" sldId="308"/>
        </pc:sldMkLst>
      </pc:sldChg>
      <pc:sldChg chg="mod modShow">
        <pc:chgData name="Conklin, Gar (NBCC)" userId="52ff30d7-4605-496e-8e2f-a1e8a6915e17" providerId="ADAL" clId="{FF1E37F8-4F3F-48B3-B74A-3839D1CEB9EC}" dt="2024-02-06T14:11:10.810" v="40" actId="729"/>
        <pc:sldMkLst>
          <pc:docMk/>
          <pc:sldMk cId="93027668" sldId="309"/>
        </pc:sldMkLst>
      </pc:sldChg>
      <pc:sldChg chg="mod modShow">
        <pc:chgData name="Conklin, Gar (NBCC)" userId="52ff30d7-4605-496e-8e2f-a1e8a6915e17" providerId="ADAL" clId="{FF1E37F8-4F3F-48B3-B74A-3839D1CEB9EC}" dt="2024-02-06T14:11:10.810" v="40" actId="729"/>
        <pc:sldMkLst>
          <pc:docMk/>
          <pc:sldMk cId="3614975520" sldId="310"/>
        </pc:sldMkLst>
      </pc:sldChg>
      <pc:sldChg chg="del">
        <pc:chgData name="Conklin, Gar (NBCC)" userId="52ff30d7-4605-496e-8e2f-a1e8a6915e17" providerId="ADAL" clId="{FF1E37F8-4F3F-48B3-B74A-3839D1CEB9EC}" dt="2024-02-06T14:09:05.715" v="10" actId="18676"/>
        <pc:sldMkLst>
          <pc:docMk/>
          <pc:sldMk cId="3107469379" sldId="311"/>
        </pc:sldMkLst>
      </pc:sldChg>
      <pc:sldChg chg="del">
        <pc:chgData name="Conklin, Gar (NBCC)" userId="52ff30d7-4605-496e-8e2f-a1e8a6915e17" providerId="ADAL" clId="{FF1E37F8-4F3F-48B3-B74A-3839D1CEB9EC}" dt="2024-02-06T14:09:08.737" v="11" actId="18676"/>
        <pc:sldMkLst>
          <pc:docMk/>
          <pc:sldMk cId="581152538" sldId="312"/>
        </pc:sldMkLst>
      </pc:sldChg>
      <pc:sldChg chg="new del mod ord modShow">
        <pc:chgData name="Conklin, Gar (NBCC)" userId="52ff30d7-4605-496e-8e2f-a1e8a6915e17" providerId="ADAL" clId="{FF1E37F8-4F3F-48B3-B74A-3839D1CEB9EC}" dt="2024-02-06T14:11:20.393" v="41" actId="47"/>
        <pc:sldMkLst>
          <pc:docMk/>
          <pc:sldMk cId="1029754530" sldId="313"/>
        </pc:sldMkLst>
      </pc:sldChg>
      <pc:sldChg chg="delSp modSp add del mod ord setBg delDesignElem modShow">
        <pc:chgData name="Conklin, Gar (NBCC)" userId="52ff30d7-4605-496e-8e2f-a1e8a6915e17" providerId="ADAL" clId="{FF1E37F8-4F3F-48B3-B74A-3839D1CEB9EC}" dt="2024-02-06T14:11:10.810" v="40" actId="729"/>
        <pc:sldMkLst>
          <pc:docMk/>
          <pc:sldMk cId="4128334139" sldId="314"/>
        </pc:sldMkLst>
        <pc:spChg chg="mod">
          <ac:chgData name="Conklin, Gar (NBCC)" userId="52ff30d7-4605-496e-8e2f-a1e8a6915e17" providerId="ADAL" clId="{FF1E37F8-4F3F-48B3-B74A-3839D1CEB9EC}" dt="2024-02-06T14:10:24.918" v="37" actId="20577"/>
          <ac:spMkLst>
            <pc:docMk/>
            <pc:sldMk cId="4128334139" sldId="314"/>
            <ac:spMk id="2" creationId="{7027B14C-A1B4-4A28-834A-B8CC29B3EB7B}"/>
          </ac:spMkLst>
        </pc:spChg>
        <pc:spChg chg="del">
          <ac:chgData name="Conklin, Gar (NBCC)" userId="52ff30d7-4605-496e-8e2f-a1e8a6915e17" providerId="ADAL" clId="{FF1E37F8-4F3F-48B3-B74A-3839D1CEB9EC}" dt="2024-02-06T14:08:10.341" v="2"/>
          <ac:spMkLst>
            <pc:docMk/>
            <pc:sldMk cId="4128334139" sldId="314"/>
            <ac:spMk id="7" creationId="{66B332A4-D438-4773-A77F-5ED49A448D9D}"/>
          </ac:spMkLst>
        </pc:spChg>
        <pc:spChg chg="del">
          <ac:chgData name="Conklin, Gar (NBCC)" userId="52ff30d7-4605-496e-8e2f-a1e8a6915e17" providerId="ADAL" clId="{FF1E37F8-4F3F-48B3-B74A-3839D1CEB9EC}" dt="2024-02-06T14:08:10.341" v="2"/>
          <ac:spMkLst>
            <pc:docMk/>
            <pc:sldMk cId="4128334139" sldId="314"/>
            <ac:spMk id="9" creationId="{DF9AD32D-FF05-44F4-BD4D-9CEE89B71EB9}"/>
          </ac:spMkLst>
        </pc:spChg>
      </pc:sldChg>
      <pc:sldChg chg="add del ord">
        <pc:chgData name="Conklin, Gar (NBCC)" userId="52ff30d7-4605-496e-8e2f-a1e8a6915e17" providerId="ADAL" clId="{FF1E37F8-4F3F-48B3-B74A-3839D1CEB9EC}" dt="2024-02-06T14:09:08.737" v="11" actId="18676"/>
        <pc:sldMkLst>
          <pc:docMk/>
          <pc:sldMk cId="3613999715" sldId="315"/>
        </pc:sldMkLst>
      </pc:sldChg>
      <pc:sldChg chg="add del">
        <pc:chgData name="Conklin, Gar (NBCC)" userId="52ff30d7-4605-496e-8e2f-a1e8a6915e17" providerId="ADAL" clId="{FF1E37F8-4F3F-48B3-B74A-3839D1CEB9EC}" dt="2024-02-06T14:10:10.386" v="30" actId="2696"/>
        <pc:sldMkLst>
          <pc:docMk/>
          <pc:sldMk cId="3699637499" sldId="315"/>
        </pc:sldMkLst>
      </pc:sldChg>
      <pc:sldMasterChg chg="add del addSldLayout delSldLayout">
        <pc:chgData name="Conklin, Gar (NBCC)" userId="52ff30d7-4605-496e-8e2f-a1e8a6915e17" providerId="ADAL" clId="{FF1E37F8-4F3F-48B3-B74A-3839D1CEB9EC}" dt="2024-02-06T14:10:04.068" v="26" actId="27028"/>
        <pc:sldMasterMkLst>
          <pc:docMk/>
          <pc:sldMasterMk cId="369541954" sldId="2147483648"/>
        </pc:sldMasterMkLst>
        <pc:sldLayoutChg chg="add del">
          <pc:chgData name="Conklin, Gar (NBCC)" userId="52ff30d7-4605-496e-8e2f-a1e8a6915e17" providerId="ADAL" clId="{FF1E37F8-4F3F-48B3-B74A-3839D1CEB9EC}" dt="2024-02-06T14:10:04.068" v="26" actId="27028"/>
          <pc:sldLayoutMkLst>
            <pc:docMk/>
            <pc:sldMasterMk cId="369541954" sldId="2147483648"/>
            <pc:sldLayoutMk cId="1860502893" sldId="2147483649"/>
          </pc:sldLayoutMkLst>
        </pc:sldLayoutChg>
      </pc:sldMasterChg>
      <pc:sldMasterChg chg="replId modSldLayout">
        <pc:chgData name="Conklin, Gar (NBCC)" userId="52ff30d7-4605-496e-8e2f-a1e8a6915e17" providerId="ADAL" clId="{FF1E37F8-4F3F-48B3-B74A-3839D1CEB9EC}" dt="2024-02-06T14:08:35.492" v="5" actId="27028"/>
        <pc:sldMasterMkLst>
          <pc:docMk/>
          <pc:sldMasterMk cId="2024241998" sldId="2147483660"/>
        </pc:sldMasterMkLst>
        <pc:sldLayoutChg chg="replId">
          <pc:chgData name="Conklin, Gar (NBCC)" userId="52ff30d7-4605-496e-8e2f-a1e8a6915e17" providerId="ADAL" clId="{FF1E37F8-4F3F-48B3-B74A-3839D1CEB9EC}" dt="2024-02-06T14:08:35.492" v="5" actId="27028"/>
          <pc:sldLayoutMkLst>
            <pc:docMk/>
            <pc:sldMasterMk cId="2024241998" sldId="2147483660"/>
            <pc:sldLayoutMk cId="36499258" sldId="214748366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859D92-B930-4A5E-B198-907628F5DDA9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C2A5C1-3AA7-45B9-B2BE-BCCCD31F0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355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So, before we start this section. I want everyone to create two Windows servers 2019, PS-SrvrDC01-GC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PS-SrvrDC02-GC – join DC02 and the PS-GC-01 (windows machine) </a:t>
            </a:r>
            <a:r>
              <a:rPr lang="en-US"/>
              <a:t>to DC01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64448-727E-4713-B9B8-CC8AE4AD775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0147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C2A5C1-3AA7-45B9-B2BE-BCCCD31F09A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9634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\\\\\w+(\\\w+)+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C2A5C1-3AA7-45B9-B2BE-BCCCD31F09A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3503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gci</a:t>
            </a:r>
            <a:r>
              <a:rPr lang="en-US" dirty="0"/>
              <a:t> -Filter *.log -Recurse | Select-String -Pattern "\s40[0-9]\s" | FT </a:t>
            </a:r>
            <a:r>
              <a:rPr lang="en-US" dirty="0" err="1"/>
              <a:t>Filename,LineNumber,Line</a:t>
            </a:r>
            <a:r>
              <a:rPr lang="en-US" dirty="0"/>
              <a:t> –Wrap</a:t>
            </a:r>
          </a:p>
          <a:p>
            <a:endParaRPr lang="en-US" dirty="0"/>
          </a:p>
          <a:p>
            <a:r>
              <a:rPr lang="en-US" dirty="0" err="1"/>
              <a:t>gci</a:t>
            </a:r>
            <a:r>
              <a:rPr lang="en-US" dirty="0"/>
              <a:t> -Filter *.log -Recurse | Select-String -Pattern "7\.0;[\w\W]+\+Gecko" | FT </a:t>
            </a:r>
            <a:r>
              <a:rPr lang="en-US" dirty="0" err="1"/>
              <a:t>Filename,LineNumber,Line</a:t>
            </a:r>
            <a:r>
              <a:rPr lang="en-US" dirty="0"/>
              <a:t> –Wrap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ipconfig | Select-String '\d{1,3}\.\d{1,3}\.\d{1,3}\.\d{1,3}'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C2A5C1-3AA7-45B9-B2BE-BCCCD31F09A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2085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Get-</a:t>
            </a:r>
            <a:r>
              <a:rPr lang="en-US" dirty="0" err="1"/>
              <a:t>EventLog</a:t>
            </a:r>
            <a:r>
              <a:rPr lang="en-US" dirty="0"/>
              <a:t> Security | where {$_.</a:t>
            </a:r>
            <a:r>
              <a:rPr lang="en-US" dirty="0" err="1"/>
              <a:t>eventID</a:t>
            </a:r>
            <a:r>
              <a:rPr lang="en-US" dirty="0"/>
              <a:t> -eq 4624} | Select-Object -</a:t>
            </a:r>
            <a:r>
              <a:rPr lang="en-US" dirty="0" err="1"/>
              <a:t>ExpandProperty</a:t>
            </a:r>
            <a:r>
              <a:rPr lang="en-US" dirty="0"/>
              <a:t> Message | Select-String -Pattern "\w+-GGB\$" |more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Get-</a:t>
            </a:r>
            <a:r>
              <a:rPr lang="en-US" dirty="0" err="1"/>
              <a:t>EventLog</a:t>
            </a:r>
            <a:r>
              <a:rPr lang="en-US" dirty="0"/>
              <a:t> Security | where {$_.</a:t>
            </a:r>
            <a:r>
              <a:rPr lang="en-US" dirty="0" err="1"/>
              <a:t>eventID</a:t>
            </a:r>
            <a:r>
              <a:rPr lang="en-US" dirty="0"/>
              <a:t> -eq 4624 -and $_.message -match "[\w]+-GGB\$"} | more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C2A5C1-3AA7-45B9-B2BE-BCCCD31F09A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5487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https://regexone.com/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C2A5C1-3AA7-45B9-B2BE-BCCCD31F09A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215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70CC3-3A87-4AF7-AB64-E3B549D35F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4D2EB5-18F6-4D05-A062-C9582742AE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B661D-C278-4694-A1E5-F9E7829D3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3433F-1D50-4EA7-A291-5325D9A8FD58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F307B0-4643-4CB0-AE5E-49E8E876D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90211C-4542-42DE-ACB6-3BD75E825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0A0CB-8122-40F6-822A-267CD86C6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9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9582C-45C7-4359-9FB6-B0889BAD6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90E4E-5F63-4B5B-86BF-747CC195E6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FBF96-CCE9-4776-8EAF-C95AA5DD1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3433F-1D50-4EA7-A291-5325D9A8FD58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74CF7-5286-42A7-A875-205D85850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0D0311-68BF-4468-8934-648BE45C9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0A0CB-8122-40F6-822A-267CD86C6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253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05BA4-559E-46BC-8A16-AD330BE8F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3902C-8FA1-4140-9B0C-F6227F397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86859-4D04-456B-8E03-15BB401AE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3433F-1D50-4EA7-A291-5325D9A8FD58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24FB9F-F301-40F3-BF1D-97DDAD8A9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4BB5F-9AC7-4764-9283-07E74B90F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0A0CB-8122-40F6-822A-267CD86C6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510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0B57C-461C-45D4-9B2A-6B1B69E83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0BB76-19F3-4D7D-A3A3-76B7D14586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3B44-A44E-41E1-A395-BD60884515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1AED04-D3BD-4F46-BB6B-4634CF7EF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3433F-1D50-4EA7-A291-5325D9A8FD58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CFB58D-BA8E-4599-8569-853CD2387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8CB026-C931-408E-AEED-CE8AB9DF2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0A0CB-8122-40F6-822A-267CD86C6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753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83A46-4D36-47FE-B110-D222736A1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01E0F3-46FF-4645-B506-8B1A741CBB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1CD948-4B43-4437-B045-09D5E33B5B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76006C-70FC-49D4-B0A5-E14523A981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8A7E64-C6F9-4FE1-9C3B-C47D7EE2F3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860A11-7D1B-4582-915E-E1C3A01A5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3433F-1D50-4EA7-A291-5325D9A8FD58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996BF4-138B-4BA8-BF51-33AA94A7F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21B9D9-B53D-4A4D-8C6F-2CE6C1CEE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0A0CB-8122-40F6-822A-267CD86C6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503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70666-1C9C-42EE-8CBB-74BD40DAB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B4FDC7-A368-4BFD-8D47-BFC559767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3433F-1D50-4EA7-A291-5325D9A8FD58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539BED-DD2D-43AD-A2B5-0B0D49B54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9975B2-89C5-4ABF-A4C4-822C274CA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0A0CB-8122-40F6-822A-267CD86C6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836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A921EC-A8F3-4431-92E4-CDF2FBB2B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3433F-1D50-4EA7-A291-5325D9A8FD58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5B3D36-F734-4DE5-A203-EE84C3E1E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B0033C-E18C-49FB-A809-E0DD6616B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0A0CB-8122-40F6-822A-267CD86C6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053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0DDFF-28DF-4301-B905-7A56C7A4B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780A2-84C2-4F51-A3E0-2DF32B407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4233-F400-454A-97DB-97D7A1EDA8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5511D5-B7AB-48E2-8D18-A8A4B84B4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3433F-1D50-4EA7-A291-5325D9A8FD58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A73E6D-596F-43F6-98E9-3B510628F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ABD9F4-3957-4349-906C-B7F878E06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0A0CB-8122-40F6-822A-267CD86C6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002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94A46-AD33-4854-A89D-DABAA3646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F8EC3A-AB80-4575-A4ED-18F9217423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E30D8F-EC16-44BA-8F7C-E7B6B639CA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F97A5-D45F-40BB-9667-D5304D11E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3433F-1D50-4EA7-A291-5325D9A8FD58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45786F-B16E-4EFB-8557-F0BEDB3BF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8472F-3ABF-4335-81DA-D444E26FD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0A0CB-8122-40F6-822A-267CD86C6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201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7F63D-879E-466E-AD1B-9C9BDF896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54AA6D-EE09-45DC-A96F-CBC1C27EB3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4325E-79F2-4578-9466-F8E185B4D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3433F-1D50-4EA7-A291-5325D9A8FD58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80B926-B52D-4E86-9166-E0D2CB246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37537-E25A-43ED-9934-88640270D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0A0CB-8122-40F6-822A-267CD86C6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415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AFD26C-CF42-40D8-9C9C-EB67B105E2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12017B-34F6-46A9-8C80-3934B9FB3B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4A01B-7854-454F-A7AE-C5DAC72C5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3433F-1D50-4EA7-A291-5325D9A8FD58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DF962-A79A-4192-B618-80EDBF149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9D9CD-A735-4002-A335-D0617A575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0A0CB-8122-40F6-822A-267CD86C6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171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CC797-54FA-44CB-BB4D-D7D99853D4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85C2A0-F6C4-4E2B-A8E5-6C3513D279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56170-2586-438B-BFE5-14ED9FF81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BA834-BBEE-42F6-9900-3E303D07239C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5ACAE-55AC-4AF1-9BC6-881407607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B078E-2824-4289-860B-A9679150F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BC3F-5FE0-4E06-A90A-DA172CBB9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502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DA9E8E-C55C-4956-A80C-F4A807920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98DDBD-E9B5-4628-B8D0-2FC31D7F02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02A48-60F8-4811-86F7-DDA32BFD7B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3433F-1D50-4EA7-A291-5325D9A8FD58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4D629F-74E9-47AD-BC59-535BBFC884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BD0032-3A0E-4C1B-A4FF-082DA4FB91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A0A0CB-8122-40F6-822A-267CD86C6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241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6FD242-19E6-41AF-AE93-85DBC8963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8E9F8A-2294-4B4F-9C94-4FEA1C568F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874E77-5602-466A-843E-77E9BD3EF2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5BA834-BBEE-42F6-9900-3E303D07239C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83142-A126-497C-88EA-C9F26447BF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78BF71-49DA-4336-89F4-09015D8687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48BC3F-5FE0-4E06-A90A-DA172CBB9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41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27B14C-A1B4-4A28-834A-B8CC29B3EB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RegEx</a:t>
            </a:r>
            <a:endParaRPr lang="en-US" sz="5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83341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796DC-C4C6-4233-91F4-A6C2D10A0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 (</a:t>
            </a:r>
            <a:r>
              <a:rPr lang="en-US" dirty="0" err="1"/>
              <a:t>RegEx</a:t>
            </a:r>
            <a:r>
              <a:rPr lang="en-US" dirty="0"/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E4B18-6A9E-4C71-A330-59DA79345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490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60EF1-EC07-4203-AD4F-3556EFE61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RegEx</a:t>
            </a:r>
            <a:r>
              <a:rPr lang="en-US" dirty="0"/>
              <a:t> and do I need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2588E-3455-4774-A1B3-3FDCC332F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Regular Expressions or </a:t>
            </a:r>
            <a:r>
              <a:rPr lang="en-US" dirty="0" err="1"/>
              <a:t>RegEx</a:t>
            </a:r>
            <a:r>
              <a:rPr lang="en-US" dirty="0"/>
              <a:t> is a method of parsing text and text files.</a:t>
            </a:r>
          </a:p>
          <a:p>
            <a:r>
              <a:rPr lang="en-US" dirty="0"/>
              <a:t>While it is completely necessary to know </a:t>
            </a:r>
            <a:r>
              <a:rPr lang="en-US" dirty="0" err="1"/>
              <a:t>RegEx</a:t>
            </a:r>
            <a:r>
              <a:rPr lang="en-US" dirty="0"/>
              <a:t> for Unix Admins, Powershell admins rely less on </a:t>
            </a:r>
            <a:r>
              <a:rPr lang="en-US" dirty="0" err="1"/>
              <a:t>RegEx</a:t>
            </a:r>
            <a:r>
              <a:rPr lang="en-US" dirty="0"/>
              <a:t> because most of our data is </a:t>
            </a:r>
            <a:r>
              <a:rPr lang="en-US" i="1" dirty="0"/>
              <a:t>not text.</a:t>
            </a:r>
            <a:endParaRPr lang="en-US" dirty="0"/>
          </a:p>
          <a:p>
            <a:r>
              <a:rPr lang="en-US" dirty="0" err="1"/>
              <a:t>RegEx</a:t>
            </a:r>
            <a:r>
              <a:rPr lang="en-US" dirty="0"/>
              <a:t> is still very helpful for administrators.  The best practical application of this would be parsing log files.</a:t>
            </a:r>
          </a:p>
        </p:txBody>
      </p:sp>
    </p:spTree>
    <p:extLst>
      <p:ext uri="{BB962C8B-B14F-4D97-AF65-F5344CB8AC3E}">
        <p14:creationId xmlns:p14="http://schemas.microsoft.com/office/powerpoint/2010/main" val="383378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59DEB-3B7C-488F-8B8A-9F1C2C184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purpose of a Regular Expression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1A1B1-D37F-400F-838A-526DD362C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RegEx</a:t>
            </a:r>
            <a:r>
              <a:rPr lang="en-US" dirty="0"/>
              <a:t> is written for a specific language. So while Unix also uses </a:t>
            </a:r>
            <a:r>
              <a:rPr lang="en-US" dirty="0" err="1"/>
              <a:t>RegEx</a:t>
            </a:r>
            <a:r>
              <a:rPr lang="en-US" dirty="0"/>
              <a:t>, the expressions use a different syntax.</a:t>
            </a:r>
          </a:p>
          <a:p>
            <a:r>
              <a:rPr lang="en-US" dirty="0" err="1"/>
              <a:t>RegEx</a:t>
            </a:r>
            <a:r>
              <a:rPr lang="en-US" dirty="0"/>
              <a:t> can be used to Validate data.</a:t>
            </a:r>
          </a:p>
          <a:p>
            <a:pPr lvl="1"/>
            <a:r>
              <a:rPr lang="en-US" dirty="0"/>
              <a:t>How would we indicate that the IP address 500.234.543.544 is an illegal value even though its in the correct format?</a:t>
            </a:r>
          </a:p>
          <a:p>
            <a:pPr lvl="1"/>
            <a:r>
              <a:rPr lang="en-US" dirty="0" err="1"/>
              <a:t>RegEx</a:t>
            </a:r>
            <a:r>
              <a:rPr lang="en-US" dirty="0"/>
              <a:t> can define patterns of numbers.</a:t>
            </a:r>
          </a:p>
          <a:p>
            <a:pPr lvl="1"/>
            <a:r>
              <a:rPr lang="en-US" dirty="0" err="1"/>
              <a:t>RegEx</a:t>
            </a:r>
            <a:r>
              <a:rPr lang="en-US" dirty="0"/>
              <a:t> can define patterns of text.</a:t>
            </a:r>
          </a:p>
          <a:p>
            <a:r>
              <a:rPr lang="en-US" dirty="0" err="1"/>
              <a:t>RegEx</a:t>
            </a:r>
            <a:r>
              <a:rPr lang="en-US" dirty="0"/>
              <a:t> </a:t>
            </a:r>
            <a:r>
              <a:rPr lang="en-US" dirty="0" err="1"/>
              <a:t>gould</a:t>
            </a:r>
            <a:r>
              <a:rPr lang="en-US" dirty="0"/>
              <a:t> be used to find a specific error code in a log file, for example.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7203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E4324-EB6E-4168-8ABE-2557CEA0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 easy as I can make it…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0BFE7-B1DF-4F53-871F-EA9DD2DF2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Let's look at a simple regular expression: 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“tough”</a:t>
            </a:r>
          </a:p>
          <a:p>
            <a:r>
              <a:rPr lang="en-US" dirty="0"/>
              <a:t>By default, which of the following expressions would match?</a:t>
            </a:r>
          </a:p>
          <a:p>
            <a:pPr lvl="1"/>
            <a:r>
              <a:rPr lang="en-US" cap="all" dirty="0">
                <a:solidFill>
                  <a:schemeClr val="tx2"/>
                </a:solidFill>
                <a:latin typeface="Lucida Console" panose="020B0609040504020204" pitchFamily="49" charset="0"/>
              </a:rPr>
              <a:t>Tough </a:t>
            </a:r>
          </a:p>
          <a:p>
            <a:pPr lvl="1"/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tough </a:t>
            </a:r>
          </a:p>
          <a:p>
            <a:pPr lvl="1"/>
            <a:r>
              <a:rPr lang="en-US" dirty="0" err="1">
                <a:solidFill>
                  <a:schemeClr val="tx2"/>
                </a:solidFill>
                <a:latin typeface="Lucida Console" panose="020B0609040504020204" pitchFamily="49" charset="0"/>
              </a:rPr>
              <a:t>tOugh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 </a:t>
            </a:r>
          </a:p>
          <a:p>
            <a:pPr lvl="1"/>
            <a:r>
              <a:rPr lang="en-US" dirty="0" err="1">
                <a:solidFill>
                  <a:schemeClr val="tx2"/>
                </a:solidFill>
                <a:latin typeface="Lucida Console" panose="020B0609040504020204" pitchFamily="49" charset="0"/>
              </a:rPr>
              <a:t>TougH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 </a:t>
            </a:r>
          </a:p>
          <a:p>
            <a:pPr lvl="1"/>
            <a:r>
              <a:rPr lang="en-US" dirty="0" err="1">
                <a:solidFill>
                  <a:schemeClr val="tx2"/>
                </a:solidFill>
                <a:latin typeface="Lucida Console" panose="020B0609040504020204" pitchFamily="49" charset="0"/>
              </a:rPr>
              <a:t>TOuGh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 </a:t>
            </a:r>
          </a:p>
          <a:p>
            <a:r>
              <a:rPr lang="en-US" dirty="0"/>
              <a:t>The all would. Be default PowerShell's expression matching is cases </a:t>
            </a:r>
            <a:r>
              <a:rPr lang="en-US" i="1" dirty="0"/>
              <a:t>insensitive.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23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A18F3-1B83-4C77-A6F9-0A78B79AA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 your match…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D3F62-9216-4937-969F-2A2F1A55F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 can instruct Powershell to look for different patterns to match.</a:t>
            </a:r>
          </a:p>
          <a:p>
            <a:r>
              <a:rPr lang="en-US" dirty="0"/>
              <a:t>Certain character sets have special meaning in PS.  </a:t>
            </a:r>
          </a:p>
          <a:p>
            <a:r>
              <a:rPr lang="en-US" dirty="0"/>
              <a:t>Where are we going to use these </a:t>
            </a:r>
            <a:r>
              <a:rPr lang="en-US" dirty="0" err="1"/>
              <a:t>RegEx’s</a:t>
            </a:r>
            <a:r>
              <a:rPr lang="en-US" dirty="0"/>
              <a:t> (once we get good at them)?</a:t>
            </a:r>
          </a:p>
          <a:p>
            <a:pPr lvl="1"/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Select-String</a:t>
            </a:r>
          </a:p>
          <a:p>
            <a:pPr lvl="1"/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-match</a:t>
            </a:r>
            <a:r>
              <a:rPr lang="en-US" dirty="0"/>
              <a:t> and 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-replace</a:t>
            </a:r>
            <a:r>
              <a:rPr lang="en-US" dirty="0"/>
              <a:t> operators</a:t>
            </a:r>
          </a:p>
          <a:p>
            <a:pPr lvl="1"/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-split</a:t>
            </a:r>
          </a:p>
          <a:p>
            <a:r>
              <a:rPr lang="en-US" dirty="0"/>
              <a:t>PowerShell regular expressions are case-insensitive by default. Each method shown above has a different way to force case sensitivity.</a:t>
            </a:r>
          </a:p>
          <a:p>
            <a:pPr lvl="1"/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Select-String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use 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-</a:t>
            </a:r>
            <a:r>
              <a:rPr lang="en-US" dirty="0" err="1">
                <a:solidFill>
                  <a:schemeClr val="tx2"/>
                </a:solidFill>
                <a:latin typeface="Lucida Console" panose="020B0609040504020204" pitchFamily="49" charset="0"/>
              </a:rPr>
              <a:t>CaseSensitive</a:t>
            </a:r>
            <a:r>
              <a:rPr lang="en-US" dirty="0"/>
              <a:t> switch</a:t>
            </a:r>
          </a:p>
          <a:p>
            <a:pPr lvl="1"/>
            <a:r>
              <a:rPr lang="en-US" dirty="0"/>
              <a:t>Operators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prefix with 'C' (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-</a:t>
            </a:r>
            <a:r>
              <a:rPr lang="en-US" dirty="0" err="1">
                <a:solidFill>
                  <a:schemeClr val="tx2"/>
                </a:solidFill>
                <a:latin typeface="Lucida Console" panose="020B0609040504020204" pitchFamily="49" charset="0"/>
              </a:rPr>
              <a:t>cmatch</a:t>
            </a:r>
            <a:r>
              <a:rPr lang="en-US" dirty="0"/>
              <a:t>, 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-</a:t>
            </a:r>
            <a:r>
              <a:rPr lang="en-US" dirty="0" err="1">
                <a:solidFill>
                  <a:schemeClr val="tx2"/>
                </a:solidFill>
                <a:latin typeface="Lucida Console" panose="020B0609040504020204" pitchFamily="49" charset="0"/>
              </a:rPr>
              <a:t>csplit</a:t>
            </a:r>
            <a:r>
              <a:rPr lang="en-US" dirty="0"/>
              <a:t>, or 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-</a:t>
            </a:r>
            <a:r>
              <a:rPr lang="en-US" dirty="0" err="1">
                <a:solidFill>
                  <a:schemeClr val="tx2"/>
                </a:solidFill>
                <a:latin typeface="Lucida Console" panose="020B0609040504020204" pitchFamily="49" charset="0"/>
              </a:rPr>
              <a:t>creplace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10476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4F5B-63F2-4B61-9BD2-9D6087332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</a:t>
            </a:r>
            <a:r>
              <a:rPr lang="en-US" dirty="0" err="1"/>
              <a:t>RegEx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89F958-2D36-4062-9D08-867BA74C5F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27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C11D1-1F01-4CB6-977F-DC53C4C6E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 literals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ADE92-1A80-40AF-ADDE-45003D041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regular expression can be a literal character or a string. The expression causes the engine to match the text specified exactly.</a:t>
            </a:r>
          </a:p>
          <a:p>
            <a:r>
              <a:rPr lang="en-US" dirty="0"/>
              <a:t>This statement returns true because book contains the string "</a:t>
            </a:r>
            <a:r>
              <a:rPr lang="en-US" dirty="0" err="1"/>
              <a:t>oo</a:t>
            </a:r>
            <a:r>
              <a:rPr lang="en-US" dirty="0"/>
              <a:t>"</a:t>
            </a:r>
          </a:p>
          <a:p>
            <a:pPr lvl="1"/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'book' -match '</a:t>
            </a:r>
            <a:r>
              <a:rPr lang="en-US" dirty="0" err="1">
                <a:solidFill>
                  <a:schemeClr val="tx2"/>
                </a:solidFill>
                <a:latin typeface="Lucida Console" panose="020B0609040504020204" pitchFamily="49" charset="0"/>
              </a:rPr>
              <a:t>oo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'</a:t>
            </a:r>
          </a:p>
          <a:p>
            <a:pPr lvl="1"/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'book' -match '</a:t>
            </a:r>
            <a:r>
              <a:rPr lang="en-US" dirty="0" err="1">
                <a:solidFill>
                  <a:schemeClr val="tx2"/>
                </a:solidFill>
                <a:latin typeface="Lucida Console" panose="020B0609040504020204" pitchFamily="49" charset="0"/>
              </a:rPr>
              <a:t>ook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'</a:t>
            </a:r>
          </a:p>
          <a:p>
            <a:pPr lvl="1"/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'BOOK' -match '</a:t>
            </a:r>
            <a:r>
              <a:rPr lang="en-US" dirty="0" err="1">
                <a:solidFill>
                  <a:schemeClr val="tx2"/>
                </a:solidFill>
                <a:latin typeface="Lucida Console" panose="020B0609040504020204" pitchFamily="49" charset="0"/>
              </a:rPr>
              <a:t>bo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'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077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B650A-0A7E-452A-A2A8-C62400D9C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 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6D773-C156-4C32-8B53-2D5CDD07D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tx2"/>
                </a:solidFill>
                <a:latin typeface="Lucida Console" panose="020B0609040504020204" pitchFamily="49" charset="0"/>
              </a:rPr>
              <a:t>[character group]</a:t>
            </a:r>
            <a:r>
              <a:rPr lang="en-US" sz="2400" dirty="0"/>
              <a:t> </a:t>
            </a:r>
            <a:r>
              <a:rPr lang="en-US" dirty="0"/>
              <a:t>allows you to match any number of characters one time, while </a:t>
            </a:r>
            <a:r>
              <a:rPr lang="en-US" sz="2400" dirty="0">
                <a:solidFill>
                  <a:schemeClr val="tx2"/>
                </a:solidFill>
                <a:latin typeface="Lucida Console" panose="020B0609040504020204" pitchFamily="49" charset="0"/>
              </a:rPr>
              <a:t>[^character group]</a:t>
            </a:r>
            <a:r>
              <a:rPr lang="en-US" sz="2400" dirty="0"/>
              <a:t> </a:t>
            </a:r>
            <a:r>
              <a:rPr lang="en-US" dirty="0"/>
              <a:t>only matches characters NOT in the group.</a:t>
            </a:r>
          </a:p>
          <a:p>
            <a:r>
              <a:rPr lang="en-US" dirty="0"/>
              <a:t>This expression returns true if the pattern matches </a:t>
            </a:r>
            <a:r>
              <a:rPr lang="en-US" sz="2400" dirty="0">
                <a:solidFill>
                  <a:schemeClr val="tx2"/>
                </a:solidFill>
                <a:latin typeface="Lucida Console" panose="020B0609040504020204" pitchFamily="49" charset="0"/>
              </a:rPr>
              <a:t>big</a:t>
            </a:r>
            <a:r>
              <a:rPr lang="en-US" dirty="0"/>
              <a:t>, </a:t>
            </a:r>
            <a:r>
              <a:rPr lang="en-US" sz="2400" dirty="0">
                <a:solidFill>
                  <a:schemeClr val="tx2"/>
                </a:solidFill>
                <a:latin typeface="Lucida Console" panose="020B0609040504020204" pitchFamily="49" charset="0"/>
              </a:rPr>
              <a:t>bog</a:t>
            </a:r>
            <a:r>
              <a:rPr lang="en-US" dirty="0"/>
              <a:t>, or </a:t>
            </a:r>
            <a:r>
              <a:rPr lang="en-US" sz="2400" dirty="0">
                <a:solidFill>
                  <a:schemeClr val="tx2"/>
                </a:solidFill>
                <a:latin typeface="Lucida Console" panose="020B0609040504020204" pitchFamily="49" charset="0"/>
              </a:rPr>
              <a:t>bug</a:t>
            </a:r>
            <a:r>
              <a:rPr lang="en-US" dirty="0"/>
              <a:t>.</a:t>
            </a:r>
          </a:p>
          <a:p>
            <a:pPr lvl="1"/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'big' -match 'b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[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iou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]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g'</a:t>
            </a:r>
          </a:p>
          <a:p>
            <a:pPr lvl="1"/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'biggest' -match 'b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[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iou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]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g'</a:t>
            </a:r>
          </a:p>
          <a:p>
            <a:pPr lvl="1"/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'bog' -match 'b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[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iou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]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g'</a:t>
            </a:r>
          </a:p>
          <a:p>
            <a:pPr lvl="1"/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'bug' -match 'b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[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iou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]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g'</a:t>
            </a:r>
          </a:p>
          <a:p>
            <a:pPr lvl="1"/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'bag' -match 'b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[^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iou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]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g'</a:t>
            </a:r>
          </a:p>
          <a:p>
            <a:pPr lvl="1"/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'beg' -match 'b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[^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iou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]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g'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5642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3BEC8-0EC0-4342-BE6B-BF6C7DEF6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 ranges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C6F8F-974E-44BD-A05E-F3CDEF225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 pattern can also be a range of characters. The characters can be alphabetic 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[A-Z]</a:t>
            </a:r>
            <a:r>
              <a:rPr lang="en-US" dirty="0"/>
              <a:t>, numeric 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[0-9]</a:t>
            </a:r>
            <a:r>
              <a:rPr lang="en-US" dirty="0"/>
              <a:t>, or even ASCII-based 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[ -~]</a:t>
            </a:r>
            <a:r>
              <a:rPr lang="en-US" dirty="0"/>
              <a:t> (all printable characters).</a:t>
            </a:r>
          </a:p>
          <a:p>
            <a:r>
              <a:rPr lang="en-US" dirty="0"/>
              <a:t>This expression returns true if the pattern matches any 2-digit number.</a:t>
            </a:r>
          </a:p>
          <a:p>
            <a:pPr lvl="1"/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42 -match '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[0-9][0-9]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'</a:t>
            </a:r>
          </a:p>
          <a:p>
            <a:r>
              <a:rPr lang="en-US" dirty="0"/>
              <a:t>This expression returns true if the pattern matches any 3-digit number.</a:t>
            </a:r>
          </a:p>
          <a:p>
            <a:pPr lvl="1"/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361 –match '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[0-9][0-9][0-9]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'</a:t>
            </a:r>
          </a:p>
          <a:p>
            <a:r>
              <a:rPr lang="en-US" dirty="0"/>
              <a:t>This expression returns true if the pattern matches any 3-digit number that did not have 0 as the first character</a:t>
            </a:r>
          </a:p>
          <a:p>
            <a:pPr lvl="1"/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444 –match '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[1-9][0-9][0-9]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'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8237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CD618-0979-4354-A8B4-18C170B32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D3051-750C-4D43-A2AC-6512DF4EFD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\d</a:t>
            </a:r>
            <a:r>
              <a:rPr lang="en-US" dirty="0"/>
              <a:t> character class will match any decimal digit. Conversely, 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\D</a:t>
            </a:r>
            <a:r>
              <a:rPr lang="en-US" dirty="0"/>
              <a:t> will match any non-decimal digit.</a:t>
            </a:r>
          </a:p>
          <a:p>
            <a:r>
              <a:rPr lang="en-US" dirty="0"/>
              <a:t>This expression returns true if it matches a server name (Server-01 - Server-99).</a:t>
            </a:r>
          </a:p>
          <a:p>
            <a:pPr lvl="1"/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'Server-01' -match 'Server-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\d\d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'</a:t>
            </a:r>
          </a:p>
          <a:p>
            <a:pPr lvl="1"/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'Server-66' -match 'Server-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\d\d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'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88218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04CA1-FEDC-421C-8B82-D34607E4F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 characters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52036-D070-4746-8DC4-4FC857C5D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\w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/>
              <a:t>character class will match any word character </a:t>
            </a:r>
            <a:r>
              <a:rPr lang="en-US" sz="2400" dirty="0">
                <a:solidFill>
                  <a:schemeClr val="tx2"/>
                </a:solidFill>
                <a:latin typeface="Lucida Console" panose="020B0609040504020204" pitchFamily="49" charset="0"/>
              </a:rPr>
              <a:t>[a-zA-Z_0-9]</a:t>
            </a:r>
            <a:r>
              <a:rPr lang="en-US" sz="2400" dirty="0"/>
              <a:t>. </a:t>
            </a:r>
            <a:r>
              <a:rPr lang="en-US" dirty="0"/>
              <a:t>To match any non-word character, use </a:t>
            </a:r>
            <a:r>
              <a:rPr lang="en-US" sz="2400" dirty="0">
                <a:solidFill>
                  <a:schemeClr val="tx2"/>
                </a:solidFill>
                <a:latin typeface="Lucida Console" panose="020B0609040504020204" pitchFamily="49" charset="0"/>
              </a:rPr>
              <a:t>\W</a:t>
            </a:r>
            <a:r>
              <a:rPr lang="en-US" dirty="0"/>
              <a:t>.</a:t>
            </a:r>
          </a:p>
          <a:p>
            <a:r>
              <a:rPr lang="en-US" dirty="0"/>
              <a:t>This expression returns true. The pattern matches the first word character 'B'.</a:t>
            </a:r>
          </a:p>
          <a:p>
            <a:pPr lvl="1"/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'Book' -match '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\w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' </a:t>
            </a:r>
            <a:r>
              <a:rPr lang="en-US" dirty="0">
                <a:sym typeface="Wingdings" panose="05000000000000000000" pitchFamily="2" charset="2"/>
              </a:rPr>
              <a:t> Lowercase w</a:t>
            </a:r>
            <a:endParaRPr lang="en-US" dirty="0"/>
          </a:p>
          <a:p>
            <a:r>
              <a:rPr lang="en-US" dirty="0"/>
              <a:t>This expression returns true. The pattern matches non-word characters.</a:t>
            </a:r>
          </a:p>
          <a:p>
            <a:pPr lvl="1"/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' ' –match '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\W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' </a:t>
            </a:r>
            <a:r>
              <a:rPr lang="en-US" dirty="0">
                <a:sym typeface="Wingdings" panose="05000000000000000000" pitchFamily="2" charset="2"/>
              </a:rPr>
              <a:t> Uppercase W</a:t>
            </a:r>
            <a:endParaRPr lang="en-US" dirty="0">
              <a:solidFill>
                <a:schemeClr val="tx2"/>
              </a:solidFill>
              <a:latin typeface="Lucida Console" panose="020B0609040504020204" pitchFamily="49" charset="0"/>
            </a:endParaRPr>
          </a:p>
          <a:p>
            <a:pPr lvl="1"/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'(8^(|)M' –match '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\W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'</a:t>
            </a:r>
          </a:p>
          <a:p>
            <a:pPr lvl="1"/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'-----' –match '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\W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'</a:t>
            </a:r>
          </a:p>
          <a:p>
            <a:pPr lvl="1"/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'</a:t>
            </a:r>
            <a:r>
              <a:rPr lang="en-US" dirty="0" err="1">
                <a:solidFill>
                  <a:schemeClr val="tx2"/>
                </a:solidFill>
                <a:latin typeface="Lucida Console" panose="020B0609040504020204" pitchFamily="49" charset="0"/>
              </a:rPr>
              <a:t>Gy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&gt;</a:t>
            </a:r>
            <a:r>
              <a:rPr lang="en-US" dirty="0" err="1">
                <a:solidFill>
                  <a:schemeClr val="tx2"/>
                </a:solidFill>
                <a:latin typeface="Lucida Console" panose="020B0609040504020204" pitchFamily="49" charset="0"/>
              </a:rPr>
              <a:t>mnasium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' –match '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\W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'</a:t>
            </a:r>
          </a:p>
          <a:p>
            <a:pPr lvl="1"/>
            <a:endParaRPr lang="en-US" dirty="0">
              <a:solidFill>
                <a:schemeClr val="tx2"/>
              </a:solidFill>
              <a:latin typeface="Lucida Console" panose="020B0609040504020204" pitchFamily="49" charset="0"/>
            </a:endParaRPr>
          </a:p>
          <a:p>
            <a:pPr lvl="1"/>
            <a:endParaRPr lang="en-US" dirty="0">
              <a:solidFill>
                <a:schemeClr val="tx2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74616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EC90C-C199-40F2-9F1C-CC060F7BE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Wildcards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19DCC-EB00-40ED-9BD9-321A45B1C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period (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.</a:t>
            </a:r>
            <a:r>
              <a:rPr lang="en-US" dirty="0"/>
              <a:t>) is a wildcard character in regular expressions. It will match any character except a newline (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\n</a:t>
            </a:r>
            <a:r>
              <a:rPr lang="en-US" dirty="0"/>
              <a:t>).</a:t>
            </a:r>
          </a:p>
          <a:p>
            <a:r>
              <a:rPr lang="en-US" dirty="0"/>
              <a:t>This expression returns true. The pattern matches any 4 characters except the newline.</a:t>
            </a:r>
          </a:p>
          <a:p>
            <a:pPr lvl="1"/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'a1\ ' -match '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....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'</a:t>
            </a:r>
          </a:p>
          <a:p>
            <a:pPr lvl="1"/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'454A' -match '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....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'</a:t>
            </a:r>
          </a:p>
          <a:p>
            <a:pPr lvl="1"/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'Bill' -match '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....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'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4968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941D1-6386-415F-9D3E-FB5C5D9D8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2FADD-B68C-435F-B9D3-3922B166AC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2172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Whitespace is matched using the 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\s</a:t>
            </a:r>
            <a:r>
              <a:rPr lang="en-US" dirty="0"/>
              <a:t> character class. Any non-whitespace character is matched using 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\S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Literal space characters 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' '</a:t>
            </a:r>
            <a:r>
              <a:rPr lang="en-US" dirty="0"/>
              <a:t> can also be used.</a:t>
            </a:r>
          </a:p>
          <a:p>
            <a:r>
              <a:rPr lang="en-US" dirty="0"/>
              <a:t>These expression return true. The pattern uses both methods to match the space (an actual space and 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\s</a:t>
            </a:r>
            <a:r>
              <a:rPr lang="en-US" dirty="0"/>
              <a:t>).</a:t>
            </a:r>
          </a:p>
          <a:p>
            <a:pPr lvl="1"/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' - ' -match '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\s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- '</a:t>
            </a:r>
          </a:p>
          <a:p>
            <a:pPr lvl="1"/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' - ' -match '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\s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-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\s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'</a:t>
            </a:r>
          </a:p>
          <a:p>
            <a:pPr lvl="1"/>
            <a:endParaRPr lang="en-US" dirty="0">
              <a:solidFill>
                <a:schemeClr val="tx2"/>
              </a:solidFill>
              <a:latin typeface="Lucida Console" panose="020B06090405040202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1090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941D1-6386-415F-9D3E-FB5C5D9D8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2FADD-B68C-435F-B9D3-3922B166A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Quantifiers control how </a:t>
            </a:r>
            <a:r>
              <a:rPr lang="en-US" b="1" dirty="0"/>
              <a:t>many instances of each element should be present in the input string</a:t>
            </a:r>
            <a:r>
              <a:rPr lang="en-US" dirty="0"/>
              <a:t>.</a:t>
            </a:r>
          </a:p>
          <a:p>
            <a:r>
              <a:rPr lang="en-US" dirty="0"/>
              <a:t>The following are a few of the quantifiers available in PowerShell:</a:t>
            </a:r>
          </a:p>
          <a:p>
            <a:pPr marL="457200" lvl="1" indent="0">
              <a:buNone/>
            </a:pPr>
            <a:r>
              <a:rPr lang="en-US" sz="1600" dirty="0">
                <a:solidFill>
                  <a:schemeClr val="tx2"/>
                </a:solidFill>
                <a:latin typeface="Lucida Console" panose="020B0609040504020204" pitchFamily="49" charset="0"/>
              </a:rPr>
              <a:t>Quantifier		Description</a:t>
            </a:r>
          </a:p>
          <a:p>
            <a:pPr marL="457200" lvl="1" indent="0">
              <a:buNone/>
            </a:pPr>
            <a:r>
              <a:rPr lang="en-US" sz="1600" dirty="0">
                <a:solidFill>
                  <a:schemeClr val="tx2"/>
                </a:solidFill>
                <a:latin typeface="Lucida Console" panose="020B0609040504020204" pitchFamily="49" charset="0"/>
              </a:rPr>
              <a:t>------------ 	---------------------------------------</a:t>
            </a:r>
          </a:p>
          <a:p>
            <a:pPr marL="457200" lvl="1" indent="0">
              <a:buNone/>
            </a:pPr>
            <a:r>
              <a:rPr lang="en-US" sz="1600" dirty="0">
                <a:solidFill>
                  <a:schemeClr val="tx2"/>
                </a:solidFill>
                <a:latin typeface="Lucida Console" panose="020B0609040504020204" pitchFamily="49" charset="0"/>
              </a:rPr>
              <a:t>    *         	Zero or more times.</a:t>
            </a:r>
          </a:p>
          <a:p>
            <a:pPr marL="457200" lvl="1" indent="0">
              <a:buNone/>
            </a:pPr>
            <a:r>
              <a:rPr lang="en-US" sz="1600" dirty="0">
                <a:solidFill>
                  <a:schemeClr val="tx2"/>
                </a:solidFill>
                <a:latin typeface="Lucida Console" panose="020B0609040504020204" pitchFamily="49" charset="0"/>
              </a:rPr>
              <a:t>    +          	One or more times.</a:t>
            </a:r>
          </a:p>
          <a:p>
            <a:pPr marL="457200" lvl="1" indent="0">
              <a:buNone/>
            </a:pPr>
            <a:r>
              <a:rPr lang="en-US" sz="1600" dirty="0">
                <a:solidFill>
                  <a:schemeClr val="tx2"/>
                </a:solidFill>
                <a:latin typeface="Lucida Console" panose="020B0609040504020204" pitchFamily="49" charset="0"/>
              </a:rPr>
              <a:t>    ?          	Zero or one time.</a:t>
            </a:r>
          </a:p>
          <a:p>
            <a:pPr marL="457200" lvl="1" indent="0">
              <a:buNone/>
            </a:pPr>
            <a:r>
              <a:rPr lang="en-US" sz="1600" dirty="0">
                <a:solidFill>
                  <a:schemeClr val="tx2"/>
                </a:solidFill>
                <a:latin typeface="Lucida Console" panose="020B0609040504020204" pitchFamily="49" charset="0"/>
              </a:rPr>
              <a:t>  {</a:t>
            </a:r>
            <a:r>
              <a:rPr lang="en-US" sz="1600" dirty="0" err="1">
                <a:solidFill>
                  <a:schemeClr val="tx2"/>
                </a:solidFill>
                <a:latin typeface="Lucida Console" panose="020B0609040504020204" pitchFamily="49" charset="0"/>
              </a:rPr>
              <a:t>n,m</a:t>
            </a:r>
            <a:r>
              <a:rPr lang="en-US" sz="1600" dirty="0">
                <a:solidFill>
                  <a:schemeClr val="tx2"/>
                </a:solidFill>
                <a:latin typeface="Lucida Console" panose="020B0609040504020204" pitchFamily="49" charset="0"/>
              </a:rPr>
              <a:t>}        	At least n, but no more than m times.</a:t>
            </a:r>
          </a:p>
          <a:p>
            <a:r>
              <a:rPr lang="en-US" sz="2400" dirty="0"/>
              <a:t>These quantifiers must come </a:t>
            </a:r>
            <a:r>
              <a:rPr lang="en-US" sz="2400" i="1" dirty="0"/>
              <a:t>after</a:t>
            </a:r>
            <a:r>
              <a:rPr lang="en-US" sz="2400" dirty="0"/>
              <a:t> something else.</a:t>
            </a:r>
          </a:p>
        </p:txBody>
      </p:sp>
    </p:spTree>
    <p:extLst>
      <p:ext uri="{BB962C8B-B14F-4D97-AF65-F5344CB8AC3E}">
        <p14:creationId xmlns:p14="http://schemas.microsoft.com/office/powerpoint/2010/main" val="9674049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CDA09-9367-4B7D-9FC8-22FD813C5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E67E2-1894-4719-9E39-2EDDEB9F6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asterisk (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*</a:t>
            </a:r>
            <a:r>
              <a:rPr lang="en-US" dirty="0"/>
              <a:t>) matches </a:t>
            </a:r>
            <a:r>
              <a:rPr lang="en-US" b="1" dirty="0"/>
              <a:t>the previous element zero or more times</a:t>
            </a:r>
            <a:r>
              <a:rPr lang="en-US" dirty="0"/>
              <a:t>. The result is that even an input string without the element would be a match.</a:t>
            </a:r>
          </a:p>
          <a:p>
            <a:r>
              <a:rPr lang="en-US" dirty="0"/>
              <a:t>This returns true for all account name strings even if the name is absent.</a:t>
            </a:r>
          </a:p>
          <a:p>
            <a:pPr lvl="1"/>
            <a:r>
              <a:rPr lang="en-US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'ACCOUNT NAME:    Administrator' -match 'ACCOUNT NAME: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\s*\w*</a:t>
            </a:r>
            <a:r>
              <a:rPr lang="en-US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'</a:t>
            </a:r>
          </a:p>
          <a:p>
            <a:r>
              <a:rPr lang="en-US" sz="2400" dirty="0"/>
              <a:t>Breakdown of </a:t>
            </a:r>
            <a:r>
              <a:rPr lang="en-US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\s*\w*</a:t>
            </a:r>
            <a:endParaRPr lang="en-US" sz="2000" dirty="0"/>
          </a:p>
          <a:p>
            <a:pPr lvl="1"/>
            <a:r>
              <a:rPr lang="en-US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\s* </a:t>
            </a:r>
            <a:r>
              <a:rPr lang="en-US" sz="2000" dirty="0"/>
              <a:t>= any number of spaces</a:t>
            </a:r>
          </a:p>
          <a:p>
            <a:pPr lvl="1"/>
            <a:r>
              <a:rPr lang="en-US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\w* </a:t>
            </a:r>
            <a:r>
              <a:rPr lang="en-US" sz="2000" dirty="0"/>
              <a:t>= any number of word characters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D5B41D1-37DF-4F42-8B65-2CA9C7A61018}"/>
              </a:ext>
            </a:extLst>
          </p:cNvPr>
          <p:cNvCxnSpPr>
            <a:cxnSpLocks/>
          </p:cNvCxnSpPr>
          <p:nvPr/>
        </p:nvCxnSpPr>
        <p:spPr>
          <a:xfrm flipV="1">
            <a:off x="8396868" y="4259766"/>
            <a:ext cx="1527717" cy="41259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E6FE2CE-1203-48E5-AD96-A64444133BED}"/>
              </a:ext>
            </a:extLst>
          </p:cNvPr>
          <p:cNvSpPr txBox="1"/>
          <p:nvPr/>
        </p:nvSpPr>
        <p:spPr>
          <a:xfrm>
            <a:off x="7266334" y="4672361"/>
            <a:ext cx="22610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Any number of spaces</a:t>
            </a:r>
            <a:br>
              <a:rPr lang="en-US" dirty="0"/>
            </a:br>
            <a:r>
              <a:rPr lang="en-US" dirty="0"/>
              <a:t>or zero spaces.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EC341CC-F1FD-40AF-BDFA-25FE014AE154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10160948" y="4259768"/>
            <a:ext cx="281183" cy="100985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7CA6873-D0DD-4265-896D-2D9684AACAB6}"/>
              </a:ext>
            </a:extLst>
          </p:cNvPr>
          <p:cNvSpPr txBox="1"/>
          <p:nvPr/>
        </p:nvSpPr>
        <p:spPr>
          <a:xfrm>
            <a:off x="9030414" y="5269622"/>
            <a:ext cx="22610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Any number of </a:t>
            </a:r>
            <a:r>
              <a:rPr lang="en-US" sz="1800" dirty="0"/>
              <a:t>word characters, </a:t>
            </a:r>
            <a:r>
              <a:rPr lang="en-US" dirty="0"/>
              <a:t>or zero </a:t>
            </a:r>
            <a:r>
              <a:rPr lang="en-US" sz="1800" dirty="0"/>
              <a:t>word characters.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6463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94D30-50CF-4443-AE91-AC5305311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60625-CA04-4927-A86C-8BAE8260B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plus sign (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+</a:t>
            </a:r>
            <a:r>
              <a:rPr lang="en-US" dirty="0"/>
              <a:t>) matches the </a:t>
            </a:r>
            <a:r>
              <a:rPr lang="en-US" b="1" dirty="0"/>
              <a:t>previous element one or more times</a:t>
            </a:r>
            <a:r>
              <a:rPr lang="en-US" dirty="0"/>
              <a:t>.</a:t>
            </a:r>
          </a:p>
          <a:p>
            <a:r>
              <a:rPr lang="en-US" dirty="0"/>
              <a:t>This returns true if it matches any server name.</a:t>
            </a:r>
          </a:p>
          <a:p>
            <a:pPr lvl="1"/>
            <a:r>
              <a:rPr lang="en-US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'DC-01' -match '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[A-Z]+</a:t>
            </a:r>
            <a:r>
              <a:rPr lang="en-US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-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\d\d</a:t>
            </a:r>
            <a:r>
              <a:rPr lang="en-US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'</a:t>
            </a:r>
          </a:p>
          <a:p>
            <a:endParaRPr lang="en-US" dirty="0"/>
          </a:p>
          <a:p>
            <a:r>
              <a:rPr lang="en-US" dirty="0"/>
              <a:t>This returns </a:t>
            </a:r>
            <a:r>
              <a:rPr lang="en-US" b="1" dirty="0"/>
              <a:t>false</a:t>
            </a:r>
            <a:r>
              <a:rPr lang="en-US" dirty="0"/>
              <a:t> if it matches any server name.</a:t>
            </a:r>
          </a:p>
          <a:p>
            <a:pPr lvl="1"/>
            <a:r>
              <a:rPr lang="en-US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'ACCOUNT </a:t>
            </a:r>
            <a:r>
              <a:rPr lang="en-US" sz="2000" dirty="0" err="1">
                <a:solidFill>
                  <a:schemeClr val="tx2"/>
                </a:solidFill>
                <a:latin typeface="Lucida Console" panose="020B0609040504020204" pitchFamily="49" charset="0"/>
              </a:rPr>
              <a:t>NAME:Administrator</a:t>
            </a:r>
            <a:r>
              <a:rPr lang="en-US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' -match 'ACCOUNT NAME: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\s+\w*</a:t>
            </a:r>
            <a:r>
              <a:rPr lang="en-US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'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0B5E748-7B77-44CC-AE69-A7F29489F1AC}"/>
              </a:ext>
            </a:extLst>
          </p:cNvPr>
          <p:cNvGrpSpPr/>
          <p:nvPr/>
        </p:nvGrpSpPr>
        <p:grpSpPr>
          <a:xfrm>
            <a:off x="3731942" y="4510248"/>
            <a:ext cx="5623932" cy="1433662"/>
            <a:chOff x="3709639" y="4001294"/>
            <a:chExt cx="5623932" cy="1433662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E3348A8E-6F4B-44B9-8868-3959D24A58C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09639" y="4001294"/>
              <a:ext cx="735981" cy="80288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FCD5839-AB0D-40C8-B945-C37AA2A06E4C}"/>
                </a:ext>
              </a:extLst>
            </p:cNvPr>
            <p:cNvSpPr txBox="1"/>
            <p:nvPr/>
          </p:nvSpPr>
          <p:spPr>
            <a:xfrm>
              <a:off x="3923682" y="4788625"/>
              <a:ext cx="1043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No space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1D59370-30DE-4E11-B78F-298ED9E6E5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35592" y="4054796"/>
              <a:ext cx="1497979" cy="69170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DADF224-0451-4BD4-91E9-33FCF5B1FE7F}"/>
                </a:ext>
              </a:extLst>
            </p:cNvPr>
            <p:cNvSpPr txBox="1"/>
            <p:nvPr/>
          </p:nvSpPr>
          <p:spPr>
            <a:xfrm>
              <a:off x="7091540" y="4788625"/>
              <a:ext cx="161634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Must have 1 </a:t>
              </a:r>
              <a:br>
                <a:rPr lang="en-US" dirty="0"/>
              </a:br>
              <a:r>
                <a:rPr lang="en-US" dirty="0"/>
                <a:t>or more spaces</a:t>
              </a:r>
            </a:p>
          </p:txBody>
        </p:sp>
      </p:grp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FDD7C86-D570-4A04-A727-BF826826C9EF}"/>
              </a:ext>
            </a:extLst>
          </p:cNvPr>
          <p:cNvCxnSpPr>
            <a:cxnSpLocks/>
          </p:cNvCxnSpPr>
          <p:nvPr/>
        </p:nvCxnSpPr>
        <p:spPr>
          <a:xfrm flipH="1" flipV="1">
            <a:off x="4817327" y="3073387"/>
            <a:ext cx="1278673" cy="35087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FCE5947-EF5B-4351-970F-AECF56EBB831}"/>
              </a:ext>
            </a:extLst>
          </p:cNvPr>
          <p:cNvSpPr txBox="1"/>
          <p:nvPr/>
        </p:nvSpPr>
        <p:spPr>
          <a:xfrm>
            <a:off x="4989861" y="3361785"/>
            <a:ext cx="4365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tx2"/>
                </a:solidFill>
                <a:latin typeface="Lucida Console" panose="020B0609040504020204" pitchFamily="49" charset="0"/>
              </a:rPr>
              <a:t>[A-Z]+ </a:t>
            </a:r>
            <a:r>
              <a:rPr lang="en-US" dirty="0"/>
              <a:t>Match one or more characters A-Z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BA2CF6A-0D4E-4878-A969-DB1FF75F8D98}"/>
              </a:ext>
            </a:extLst>
          </p:cNvPr>
          <p:cNvCxnSpPr>
            <a:cxnSpLocks/>
          </p:cNvCxnSpPr>
          <p:nvPr/>
        </p:nvCxnSpPr>
        <p:spPr>
          <a:xfrm flipH="1">
            <a:off x="5739162" y="3054930"/>
            <a:ext cx="1374681" cy="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573951A-84BB-4686-8C93-66CFBBCE5D9A}"/>
              </a:ext>
            </a:extLst>
          </p:cNvPr>
          <p:cNvSpPr txBox="1"/>
          <p:nvPr/>
        </p:nvSpPr>
        <p:spPr>
          <a:xfrm>
            <a:off x="7113843" y="2864318"/>
            <a:ext cx="2448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\d\d</a:t>
            </a:r>
            <a:r>
              <a:rPr lang="en-US" dirty="0"/>
              <a:t> Any two numbers</a:t>
            </a:r>
          </a:p>
        </p:txBody>
      </p:sp>
    </p:spTree>
    <p:extLst>
      <p:ext uri="{BB962C8B-B14F-4D97-AF65-F5344CB8AC3E}">
        <p14:creationId xmlns:p14="http://schemas.microsoft.com/office/powerpoint/2010/main" val="31536153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10077-5183-4B76-AFC9-0B60C7B6E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8ECA5-696E-42A6-A128-7FCCBB6DE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question mark 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?</a:t>
            </a:r>
            <a:r>
              <a:rPr lang="en-US" dirty="0"/>
              <a:t> matches the </a:t>
            </a:r>
            <a:r>
              <a:rPr lang="en-US" b="1" dirty="0"/>
              <a:t>previous element zero or one time</a:t>
            </a:r>
            <a:r>
              <a:rPr lang="en-US" dirty="0"/>
              <a:t>. Like asterisk 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*</a:t>
            </a:r>
            <a:r>
              <a:rPr lang="en-US" dirty="0"/>
              <a:t>, it will even match strings where the element is absent.</a:t>
            </a:r>
          </a:p>
          <a:p>
            <a:r>
              <a:rPr lang="en-US" dirty="0"/>
              <a:t>This returns true for any server name, even server names without dashes.</a:t>
            </a:r>
          </a:p>
          <a:p>
            <a:pPr lvl="1"/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'SERVER01' -match '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[A-Z]+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-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?\d\d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'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C8EF76A-42D3-4A0D-A2E6-5475996DBB74}"/>
              </a:ext>
            </a:extLst>
          </p:cNvPr>
          <p:cNvCxnSpPr>
            <a:cxnSpLocks/>
            <a:stCxn id="5" idx="0"/>
          </p:cNvCxnSpPr>
          <p:nvPr/>
        </p:nvCxnSpPr>
        <p:spPr>
          <a:xfrm flipH="1" flipV="1">
            <a:off x="6395225" y="4420182"/>
            <a:ext cx="1163864" cy="71853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C8C0904-C7F3-4AA6-B367-486790C12218}"/>
              </a:ext>
            </a:extLst>
          </p:cNvPr>
          <p:cNvSpPr txBox="1"/>
          <p:nvPr/>
        </p:nvSpPr>
        <p:spPr>
          <a:xfrm>
            <a:off x="5664820" y="5138716"/>
            <a:ext cx="3788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there is one hyphen or zero hyphens</a:t>
            </a:r>
          </a:p>
        </p:txBody>
      </p:sp>
      <p:sp>
        <p:nvSpPr>
          <p:cNvPr id="6" name="Double Brace 5">
            <a:extLst>
              <a:ext uri="{FF2B5EF4-FFF2-40B4-BE49-F238E27FC236}">
                <a16:creationId xmlns:a16="http://schemas.microsoft.com/office/drawing/2014/main" id="{6B05837F-3FA3-4A6E-9173-693032D2FD3C}"/>
              </a:ext>
            </a:extLst>
          </p:cNvPr>
          <p:cNvSpPr/>
          <p:nvPr/>
        </p:nvSpPr>
        <p:spPr>
          <a:xfrm rot="5400000">
            <a:off x="6210558" y="3970326"/>
            <a:ext cx="369332" cy="293648"/>
          </a:xfrm>
          <a:prstGeom prst="bracePair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9229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6CC4E-A966-4AB3-AF70-80A32B939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84A9F-61D8-41FC-8702-06977AB15F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{n, m}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/>
              <a:t>quantifier can be used several different ways to allow granular control over the quantifier. The second element m and the comma , are optional. </a:t>
            </a:r>
          </a:p>
          <a:p>
            <a:pPr marL="457200" lvl="1" indent="0">
              <a:buNone/>
            </a:pPr>
            <a:r>
              <a:rPr lang="en-US" sz="1800" dirty="0">
                <a:solidFill>
                  <a:schemeClr val="tx2"/>
                </a:solidFill>
                <a:latin typeface="Lucida Console" panose="020B0609040504020204" pitchFamily="49" charset="0"/>
              </a:rPr>
              <a:t>Quantifier   Description</a:t>
            </a:r>
          </a:p>
          <a:p>
            <a:pPr marL="457200" lvl="1" indent="0">
              <a:buNone/>
            </a:pPr>
            <a:r>
              <a:rPr lang="en-US" sz="1800" dirty="0">
                <a:solidFill>
                  <a:schemeClr val="tx2"/>
                </a:solidFill>
                <a:latin typeface="Lucida Console" panose="020B0609040504020204" pitchFamily="49" charset="0"/>
              </a:rPr>
              <a:t>------------ ----------------------------------------</a:t>
            </a:r>
          </a:p>
          <a:p>
            <a:pPr marL="457200" lvl="1" indent="0">
              <a:buNone/>
            </a:pPr>
            <a:r>
              <a:rPr lang="en-US" sz="1800" dirty="0">
                <a:solidFill>
                  <a:schemeClr val="tx2"/>
                </a:solidFill>
                <a:latin typeface="Lucida Console" panose="020B0609040504020204" pitchFamily="49" charset="0"/>
              </a:rPr>
              <a:t>{n}          Match EXACTLY n number of times.</a:t>
            </a:r>
          </a:p>
          <a:p>
            <a:pPr marL="457200" lvl="1" indent="0">
              <a:buNone/>
            </a:pPr>
            <a:r>
              <a:rPr lang="en-US" sz="1800" dirty="0">
                <a:solidFill>
                  <a:schemeClr val="tx2"/>
                </a:solidFill>
                <a:latin typeface="Lucida Console" panose="020B0609040504020204" pitchFamily="49" charset="0"/>
              </a:rPr>
              <a:t>{n,}         Match at LEAST n number of times.</a:t>
            </a:r>
          </a:p>
          <a:p>
            <a:pPr marL="457200" lvl="1" indent="0">
              <a:buNone/>
            </a:pPr>
            <a:r>
              <a:rPr lang="en-US" sz="1800" dirty="0">
                <a:solidFill>
                  <a:schemeClr val="tx2"/>
                </a:solidFill>
                <a:latin typeface="Lucida Console" panose="020B0609040504020204" pitchFamily="49" charset="0"/>
              </a:rPr>
              <a:t>{</a:t>
            </a:r>
            <a:r>
              <a:rPr lang="en-US" sz="1800" dirty="0" err="1">
                <a:solidFill>
                  <a:schemeClr val="tx2"/>
                </a:solidFill>
                <a:latin typeface="Lucida Console" panose="020B0609040504020204" pitchFamily="49" charset="0"/>
              </a:rPr>
              <a:t>n,m</a:t>
            </a:r>
            <a:r>
              <a:rPr lang="en-US" sz="1800" dirty="0">
                <a:solidFill>
                  <a:schemeClr val="tx2"/>
                </a:solidFill>
                <a:latin typeface="Lucida Console" panose="020B0609040504020204" pitchFamily="49" charset="0"/>
              </a:rPr>
              <a:t>}        Match between n and m number of times.</a:t>
            </a:r>
          </a:p>
          <a:p>
            <a:r>
              <a:rPr lang="en-US" dirty="0"/>
              <a:t>This returns true if it matches any phone number.</a:t>
            </a:r>
          </a:p>
          <a:p>
            <a:pPr lvl="1"/>
            <a:r>
              <a:rPr lang="en-US" dirty="0">
                <a:solidFill>
                  <a:schemeClr val="tx2"/>
                </a:solidFill>
              </a:rPr>
              <a:t>'111-222-3333' -match '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\d{3}</a:t>
            </a:r>
            <a:r>
              <a:rPr lang="en-US" dirty="0">
                <a:solidFill>
                  <a:schemeClr val="tx2"/>
                </a:solidFill>
              </a:rPr>
              <a:t>-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\d{3}</a:t>
            </a:r>
            <a:r>
              <a:rPr lang="en-US" dirty="0">
                <a:solidFill>
                  <a:schemeClr val="tx2"/>
                </a:solidFill>
              </a:rPr>
              <a:t>-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\d{4}</a:t>
            </a:r>
            <a:r>
              <a:rPr lang="en-US" dirty="0">
                <a:solidFill>
                  <a:schemeClr val="tx2"/>
                </a:solidFill>
              </a:rPr>
              <a:t>'</a:t>
            </a:r>
          </a:p>
          <a:p>
            <a:r>
              <a:rPr lang="en-US" dirty="0"/>
              <a:t>This returns false.</a:t>
            </a:r>
          </a:p>
          <a:p>
            <a:pPr lvl="1"/>
            <a:r>
              <a:rPr lang="en-US" dirty="0">
                <a:solidFill>
                  <a:schemeClr val="tx2"/>
                </a:solidFill>
              </a:rPr>
              <a:t>'111-222-3333' -match '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\d{3}</a:t>
            </a:r>
            <a:r>
              <a:rPr lang="en-US" dirty="0">
                <a:solidFill>
                  <a:schemeClr val="tx2"/>
                </a:solidFill>
              </a:rPr>
              <a:t>-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\d{3}</a:t>
            </a:r>
            <a:r>
              <a:rPr lang="en-US" dirty="0">
                <a:solidFill>
                  <a:schemeClr val="tx2"/>
                </a:solidFill>
              </a:rPr>
              <a:t>-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\d{3}</a:t>
            </a:r>
            <a:r>
              <a:rPr lang="en-US" dirty="0">
                <a:solidFill>
                  <a:schemeClr val="tx2"/>
                </a:solidFill>
              </a:rPr>
              <a:t>'</a:t>
            </a:r>
          </a:p>
          <a:p>
            <a:pPr lvl="1"/>
            <a:endParaRPr lang="en-US" dirty="0">
              <a:solidFill>
                <a:schemeClr val="tx2"/>
              </a:solidFill>
            </a:endParaRPr>
          </a:p>
          <a:p>
            <a:endParaRPr lang="en-US" dirty="0"/>
          </a:p>
          <a:p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40722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0C23A-B62F-498D-BD22-450FBB2F3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Anchors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76284-9673-477F-ACE5-947A0606E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Anchors allow you to cause a match to succeed or fail based on the matches position within the input string. The caret 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^</a:t>
            </a:r>
            <a:r>
              <a:rPr lang="en-US" dirty="0"/>
              <a:t> matches the start of a string, and 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$</a:t>
            </a:r>
            <a:r>
              <a:rPr lang="en-US" dirty="0"/>
              <a:t>, which matches the end of a string.</a:t>
            </a:r>
          </a:p>
          <a:p>
            <a:pPr lvl="1"/>
            <a:r>
              <a:rPr lang="en-US" dirty="0"/>
              <a:t>The anchor matches your text at a specific position and discards unwanted characters (so it works like a 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.Trim()</a:t>
            </a:r>
            <a:r>
              <a:rPr lang="en-US" dirty="0"/>
              <a:t>).</a:t>
            </a:r>
          </a:p>
          <a:p>
            <a:r>
              <a:rPr lang="en-US" dirty="0"/>
              <a:t>The pattern expects the string 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'fish'</a:t>
            </a:r>
            <a:r>
              <a:rPr lang="en-US" dirty="0"/>
              <a:t> to be the only thing on the line. This returns FALSE.</a:t>
            </a:r>
          </a:p>
          <a:p>
            <a:pPr lvl="1"/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'fishing' -match '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^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fish$'</a:t>
            </a:r>
          </a:p>
          <a:p>
            <a:r>
              <a:rPr lang="en-US" dirty="0"/>
              <a:t>This also returns FALSE</a:t>
            </a:r>
          </a:p>
          <a:p>
            <a:pPr lvl="1"/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'Geoffrey Beers' -match '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^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Beers'</a:t>
            </a:r>
          </a:p>
          <a:p>
            <a:r>
              <a:rPr lang="en-US" dirty="0"/>
              <a:t>These returns True</a:t>
            </a:r>
          </a:p>
          <a:p>
            <a:pPr lvl="1"/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'Geoffrey' –match 'Geoffrey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$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'</a:t>
            </a:r>
          </a:p>
          <a:p>
            <a:pPr lvl="1"/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'Beers' -match '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^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Beers'</a:t>
            </a:r>
          </a:p>
          <a:p>
            <a:r>
              <a:rPr lang="en-US" dirty="0"/>
              <a:t>Tip: make sure you're using 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' '</a:t>
            </a:r>
            <a:r>
              <a:rPr lang="en-US" dirty="0"/>
              <a:t> instead of 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“ ”</a:t>
            </a:r>
            <a:r>
              <a:rPr lang="en-US" dirty="0"/>
              <a:t> when using anchors. If not 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$</a:t>
            </a:r>
            <a:r>
              <a:rPr lang="en-US" dirty="0"/>
              <a:t> will be interpreted as a variable.</a:t>
            </a:r>
          </a:p>
        </p:txBody>
      </p:sp>
    </p:spTree>
    <p:extLst>
      <p:ext uri="{BB962C8B-B14F-4D97-AF65-F5344CB8AC3E}">
        <p14:creationId xmlns:p14="http://schemas.microsoft.com/office/powerpoint/2010/main" val="20787040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D63D3-24E3-4E98-ACF1-62FC7C143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Escaping characters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1EACC-2BD5-4E45-AAC6-8F8F0B0BB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backslash (\) is used to escape characters so they aren't parsed by the regular expression engine. </a:t>
            </a:r>
          </a:p>
          <a:p>
            <a:pPr lvl="1"/>
            <a:r>
              <a:rPr lang="en-US" dirty="0"/>
              <a:t>The following characters are reserved: 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[]().\^$|?*+{}</a:t>
            </a:r>
          </a:p>
          <a:p>
            <a:r>
              <a:rPr lang="en-US" dirty="0"/>
              <a:t>You'll need to escape these characters in your patterns to match them in your input strings.</a:t>
            </a:r>
          </a:p>
          <a:p>
            <a:r>
              <a:rPr lang="en-US" dirty="0"/>
              <a:t>This returns true and matches numbers with at least 2 digits of precision. The decimal point is escaped using the backslash.</a:t>
            </a:r>
          </a:p>
          <a:p>
            <a:pPr lvl="1"/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'3.141' -match '3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\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.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\d{2,}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'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78673B6-499E-4920-AB9C-DEFC53DA380C}"/>
              </a:ext>
            </a:extLst>
          </p:cNvPr>
          <p:cNvCxnSpPr>
            <a:cxnSpLocks/>
          </p:cNvCxnSpPr>
          <p:nvPr/>
        </p:nvCxnSpPr>
        <p:spPr>
          <a:xfrm flipV="1">
            <a:off x="2070410" y="5183324"/>
            <a:ext cx="1" cy="65991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47F50EE-1DB3-440D-A79B-00627BF78F44}"/>
              </a:ext>
            </a:extLst>
          </p:cNvPr>
          <p:cNvCxnSpPr>
            <a:cxnSpLocks/>
          </p:cNvCxnSpPr>
          <p:nvPr/>
        </p:nvCxnSpPr>
        <p:spPr>
          <a:xfrm flipV="1">
            <a:off x="4876801" y="5183324"/>
            <a:ext cx="1" cy="65991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1916819-C1B8-4A8B-ADD8-C4B1402C8C96}"/>
              </a:ext>
            </a:extLst>
          </p:cNvPr>
          <p:cNvCxnSpPr>
            <a:cxnSpLocks/>
          </p:cNvCxnSpPr>
          <p:nvPr/>
        </p:nvCxnSpPr>
        <p:spPr>
          <a:xfrm flipH="1" flipV="1">
            <a:off x="5662962" y="5183325"/>
            <a:ext cx="960862" cy="65991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19BF00D-7117-42F5-967B-7C4D63958476}"/>
              </a:ext>
            </a:extLst>
          </p:cNvPr>
          <p:cNvSpPr txBox="1"/>
          <p:nvPr/>
        </p:nvSpPr>
        <p:spPr>
          <a:xfrm>
            <a:off x="1390186" y="5839994"/>
            <a:ext cx="1754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Illegal character being escaped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DD2408-5A1C-4CC2-B357-A703D3EEC3AC}"/>
              </a:ext>
            </a:extLst>
          </p:cNvPr>
          <p:cNvSpPr txBox="1"/>
          <p:nvPr/>
        </p:nvSpPr>
        <p:spPr>
          <a:xfrm>
            <a:off x="4151971" y="5855667"/>
            <a:ext cx="1754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\.</a:t>
            </a:r>
            <a:r>
              <a:rPr lang="en-US" dirty="0"/>
              <a:t> Escapes 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0A39CA-267B-422A-9EDC-A643E8408C95}"/>
              </a:ext>
            </a:extLst>
          </p:cNvPr>
          <p:cNvSpPr txBox="1"/>
          <p:nvPr/>
        </p:nvSpPr>
        <p:spPr>
          <a:xfrm>
            <a:off x="6285575" y="5858612"/>
            <a:ext cx="20109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\d{2,}</a:t>
            </a:r>
            <a:br>
              <a:rPr lang="en-US" dirty="0"/>
            </a:br>
            <a:r>
              <a:rPr lang="en-US" dirty="0"/>
              <a:t>At least 2 numbers</a:t>
            </a:r>
          </a:p>
        </p:txBody>
      </p:sp>
    </p:spTree>
    <p:extLst>
      <p:ext uri="{BB962C8B-B14F-4D97-AF65-F5344CB8AC3E}">
        <p14:creationId xmlns:p14="http://schemas.microsoft.com/office/powerpoint/2010/main" val="23277712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0FF47-E79F-4E09-94E6-461D836D3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Escaping characters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F7D41-2EB9-4FFF-BB66-F7212304B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following are a few commonly used character escapes: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  <a:latin typeface="Lucida Console" panose="020B0609040504020204" pitchFamily="49" charset="0"/>
              </a:rPr>
              <a:t>	Character Escape   Description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  <a:latin typeface="Lucida Console" panose="020B0609040504020204" pitchFamily="49" charset="0"/>
              </a:rPr>
              <a:t>	------------------ ---------------------------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  <a:latin typeface="Lucida Console" panose="020B0609040504020204" pitchFamily="49" charset="0"/>
              </a:rPr>
              <a:t>	\t                 Matches a tab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  <a:latin typeface="Lucida Console" panose="020B0609040504020204" pitchFamily="49" charset="0"/>
              </a:rPr>
              <a:t>	\n                 Matches a newline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  <a:latin typeface="Lucida Console" panose="020B0609040504020204" pitchFamily="49" charset="0"/>
              </a:rPr>
              <a:t>	\r                 Matches a carriage return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785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6225C-7D87-42D6-9C01-FED4F18CB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do I use these?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B3FDC-0976-438D-8352-599CEAF1B6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9755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EEBCA-0D4F-49C1-AC81-8AFB6F9E4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Select-String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2DE7E-26CF-4D74-8154-8B2F16C0BB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Select-String</a:t>
            </a:r>
            <a:r>
              <a:rPr lang="en-US" dirty="0"/>
              <a:t> finds text in strings of text and files.</a:t>
            </a:r>
          </a:p>
          <a:p>
            <a:pPr lvl="1"/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-pattern</a:t>
            </a:r>
            <a:r>
              <a:rPr lang="en-US" dirty="0"/>
              <a:t> – The </a:t>
            </a:r>
            <a:r>
              <a:rPr lang="en-US" dirty="0" err="1"/>
              <a:t>RegEx</a:t>
            </a:r>
            <a:r>
              <a:rPr lang="en-US" dirty="0"/>
              <a:t> patter to match</a:t>
            </a:r>
          </a:p>
          <a:p>
            <a:pPr lvl="1"/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-</a:t>
            </a:r>
            <a:r>
              <a:rPr lang="en-US" dirty="0" err="1">
                <a:solidFill>
                  <a:schemeClr val="tx2"/>
                </a:solidFill>
                <a:latin typeface="Lucida Console" panose="020B0609040504020204" pitchFamily="49" charset="0"/>
              </a:rPr>
              <a:t>caseSenstive</a:t>
            </a:r>
            <a:r>
              <a:rPr lang="en-US" dirty="0"/>
              <a:t> – Turn Case sensitivity on or off</a:t>
            </a:r>
          </a:p>
          <a:p>
            <a:r>
              <a:rPr lang="en-US" sz="2400" dirty="0" err="1">
                <a:solidFill>
                  <a:schemeClr val="tx2"/>
                </a:solidFill>
                <a:latin typeface="Lucida Console" panose="020B0609040504020204" pitchFamily="49" charset="0"/>
              </a:rPr>
              <a:t>gci</a:t>
            </a:r>
            <a:r>
              <a:rPr lang="en-US" sz="2400" dirty="0">
                <a:solidFill>
                  <a:schemeClr val="tx2"/>
                </a:solidFill>
                <a:latin typeface="Lucida Console" panose="020B0609040504020204" pitchFamily="49" charset="0"/>
              </a:rPr>
              <a:t> -Filter *.log -Recurse |`</a:t>
            </a:r>
            <a:br>
              <a:rPr lang="en-US" sz="2400" dirty="0">
                <a:solidFill>
                  <a:schemeClr val="tx2"/>
                </a:solidFill>
                <a:latin typeface="Lucida Console" panose="020B0609040504020204" pitchFamily="49" charset="0"/>
              </a:rPr>
            </a:br>
            <a:r>
              <a:rPr lang="en-US" sz="2400" dirty="0">
                <a:solidFill>
                  <a:schemeClr val="tx2"/>
                </a:solidFill>
                <a:latin typeface="Lucida Console" panose="020B0609040504020204" pitchFamily="49" charset="0"/>
              </a:rPr>
              <a:t>	Select-String -Pattern "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\s</a:t>
            </a:r>
            <a:r>
              <a:rPr lang="en-US" sz="2400" dirty="0">
                <a:solidFill>
                  <a:schemeClr val="tx2"/>
                </a:solidFill>
                <a:latin typeface="Lucida Console" panose="020B0609040504020204" pitchFamily="49" charset="0"/>
              </a:rPr>
              <a:t>40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[0-9]\s</a:t>
            </a:r>
            <a:r>
              <a:rPr lang="en-US" sz="2400" dirty="0">
                <a:solidFill>
                  <a:schemeClr val="tx2"/>
                </a:solidFill>
                <a:latin typeface="Lucida Console" panose="020B0609040504020204" pitchFamily="49" charset="0"/>
              </a:rPr>
              <a:t>" |`</a:t>
            </a:r>
            <a:br>
              <a:rPr lang="en-US" sz="2400" dirty="0">
                <a:solidFill>
                  <a:schemeClr val="tx2"/>
                </a:solidFill>
                <a:latin typeface="Lucida Console" panose="020B0609040504020204" pitchFamily="49" charset="0"/>
              </a:rPr>
            </a:br>
            <a:r>
              <a:rPr lang="en-US" sz="2400" dirty="0">
                <a:solidFill>
                  <a:schemeClr val="tx2"/>
                </a:solidFill>
                <a:latin typeface="Lucida Console" panose="020B0609040504020204" pitchFamily="49" charset="0"/>
              </a:rPr>
              <a:t>	FT </a:t>
            </a:r>
            <a:r>
              <a:rPr lang="en-US" sz="2400" dirty="0" err="1">
                <a:solidFill>
                  <a:schemeClr val="tx2"/>
                </a:solidFill>
                <a:latin typeface="Lucida Console" panose="020B0609040504020204" pitchFamily="49" charset="0"/>
              </a:rPr>
              <a:t>Filename,LineNumber,Line</a:t>
            </a:r>
            <a:r>
              <a:rPr lang="en-US" sz="2400" dirty="0">
                <a:solidFill>
                  <a:schemeClr val="tx2"/>
                </a:solidFill>
                <a:latin typeface="Lucida Console" panose="020B0609040504020204" pitchFamily="49" charset="0"/>
              </a:rPr>
              <a:t> –Wrap</a:t>
            </a:r>
          </a:p>
          <a:p>
            <a:r>
              <a:rPr lang="en-US" sz="2400" dirty="0" err="1">
                <a:solidFill>
                  <a:schemeClr val="tx2"/>
                </a:solidFill>
                <a:latin typeface="Lucida Console" panose="020B0609040504020204" pitchFamily="49" charset="0"/>
              </a:rPr>
              <a:t>gci</a:t>
            </a:r>
            <a:r>
              <a:rPr lang="en-US" sz="2400" dirty="0">
                <a:solidFill>
                  <a:schemeClr val="tx2"/>
                </a:solidFill>
                <a:latin typeface="Lucida Console" panose="020B0609040504020204" pitchFamily="49" charset="0"/>
              </a:rPr>
              <a:t> -Filter *.log -Recurse |`</a:t>
            </a:r>
            <a:br>
              <a:rPr lang="en-US" sz="2400" dirty="0">
                <a:solidFill>
                  <a:schemeClr val="tx2"/>
                </a:solidFill>
                <a:latin typeface="Lucida Console" panose="020B0609040504020204" pitchFamily="49" charset="0"/>
              </a:rPr>
            </a:br>
            <a:r>
              <a:rPr lang="en-US" sz="2400" dirty="0">
                <a:solidFill>
                  <a:schemeClr val="tx2"/>
                </a:solidFill>
                <a:latin typeface="Lucida Console" panose="020B0609040504020204" pitchFamily="49" charset="0"/>
              </a:rPr>
              <a:t>	Select-String -Pattern "7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\.</a:t>
            </a:r>
            <a:r>
              <a:rPr lang="en-US" sz="2400" dirty="0">
                <a:solidFill>
                  <a:schemeClr val="tx2"/>
                </a:solidFill>
                <a:latin typeface="Lucida Console" panose="020B0609040504020204" pitchFamily="49" charset="0"/>
              </a:rPr>
              <a:t>0;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[\w\W]+\</a:t>
            </a:r>
            <a:r>
              <a:rPr lang="en-US" sz="2400" dirty="0">
                <a:solidFill>
                  <a:schemeClr val="tx2"/>
                </a:solidFill>
                <a:latin typeface="Lucida Console" panose="020B0609040504020204" pitchFamily="49" charset="0"/>
              </a:rPr>
              <a:t>+Gecko" |`</a:t>
            </a:r>
            <a:br>
              <a:rPr lang="en-US" sz="2400" dirty="0">
                <a:solidFill>
                  <a:schemeClr val="tx2"/>
                </a:solidFill>
                <a:latin typeface="Lucida Console" panose="020B0609040504020204" pitchFamily="49" charset="0"/>
              </a:rPr>
            </a:br>
            <a:r>
              <a:rPr lang="en-US" sz="2400" dirty="0">
                <a:solidFill>
                  <a:schemeClr val="tx2"/>
                </a:solidFill>
                <a:latin typeface="Lucida Console" panose="020B0609040504020204" pitchFamily="49" charset="0"/>
              </a:rPr>
              <a:t>	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FT </a:t>
            </a:r>
            <a:r>
              <a:rPr lang="en-US" dirty="0" err="1">
                <a:solidFill>
                  <a:schemeClr val="tx2"/>
                </a:solidFill>
                <a:latin typeface="Lucida Console" panose="020B0609040504020204" pitchFamily="49" charset="0"/>
              </a:rPr>
              <a:t>Filename,LineNumber,Line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 –Wrap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2834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9FD0D-FCEF-42A0-951B-CA0F2DE8F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-match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33B66-A35A-42D2-975B-B58FCDB126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can use -match to filter text for specific sting patters or number patters.</a:t>
            </a:r>
          </a:p>
          <a:p>
            <a:r>
              <a:rPr lang="en-US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Get-</a:t>
            </a:r>
            <a:r>
              <a:rPr lang="en-US" sz="2000" dirty="0" err="1">
                <a:solidFill>
                  <a:schemeClr val="tx2"/>
                </a:solidFill>
                <a:latin typeface="Lucida Console" panose="020B0609040504020204" pitchFamily="49" charset="0"/>
              </a:rPr>
              <a:t>EventLog</a:t>
            </a:r>
            <a:r>
              <a:rPr lang="en-US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 Security | `</a:t>
            </a:r>
            <a:br>
              <a:rPr lang="en-US" sz="2000" dirty="0">
                <a:solidFill>
                  <a:schemeClr val="tx2"/>
                </a:solidFill>
                <a:latin typeface="Lucida Console" panose="020B0609040504020204" pitchFamily="49" charset="0"/>
              </a:rPr>
            </a:br>
            <a:r>
              <a:rPr lang="en-US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	where {$_.</a:t>
            </a:r>
            <a:r>
              <a:rPr lang="en-US" sz="2000" dirty="0" err="1">
                <a:solidFill>
                  <a:schemeClr val="tx2"/>
                </a:solidFill>
                <a:latin typeface="Lucida Console" panose="020B0609040504020204" pitchFamily="49" charset="0"/>
              </a:rPr>
              <a:t>eventID</a:t>
            </a:r>
            <a:r>
              <a:rPr lang="en-US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 -eq 4624} | `</a:t>
            </a:r>
            <a:br>
              <a:rPr lang="en-US" sz="2000" dirty="0">
                <a:solidFill>
                  <a:schemeClr val="tx2"/>
                </a:solidFill>
                <a:latin typeface="Lucida Console" panose="020B0609040504020204" pitchFamily="49" charset="0"/>
              </a:rPr>
            </a:br>
            <a:r>
              <a:rPr lang="en-US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	Select-Object -</a:t>
            </a:r>
            <a:r>
              <a:rPr lang="en-US" sz="2000" dirty="0" err="1">
                <a:solidFill>
                  <a:schemeClr val="tx2"/>
                </a:solidFill>
                <a:latin typeface="Lucida Console" panose="020B0609040504020204" pitchFamily="49" charset="0"/>
              </a:rPr>
              <a:t>ExpandProperty</a:t>
            </a:r>
            <a:r>
              <a:rPr lang="en-US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 Message | `</a:t>
            </a:r>
            <a:br>
              <a:rPr lang="en-US" sz="2000" dirty="0">
                <a:solidFill>
                  <a:schemeClr val="tx2"/>
                </a:solidFill>
                <a:latin typeface="Lucida Console" panose="020B0609040504020204" pitchFamily="49" charset="0"/>
              </a:rPr>
            </a:br>
            <a:r>
              <a:rPr lang="en-US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	Select-String -Pattern "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\w+</a:t>
            </a:r>
            <a:r>
              <a:rPr lang="en-US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-GGB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\</a:t>
            </a:r>
            <a:r>
              <a:rPr lang="en-US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$" | `</a:t>
            </a:r>
            <a:br>
              <a:rPr lang="en-US" sz="2000" dirty="0">
                <a:solidFill>
                  <a:schemeClr val="tx2"/>
                </a:solidFill>
                <a:latin typeface="Lucida Console" panose="020B0609040504020204" pitchFamily="49" charset="0"/>
              </a:rPr>
            </a:br>
            <a:r>
              <a:rPr lang="en-US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	more</a:t>
            </a:r>
          </a:p>
          <a:p>
            <a:endParaRPr lang="en-US" sz="2000" dirty="0">
              <a:solidFill>
                <a:schemeClr val="tx2"/>
              </a:solidFill>
              <a:latin typeface="Lucida Console" panose="020B060904050402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 Get-</a:t>
            </a:r>
            <a:r>
              <a:rPr lang="en-US" sz="2000" dirty="0" err="1">
                <a:solidFill>
                  <a:schemeClr val="tx2"/>
                </a:solidFill>
                <a:latin typeface="Lucida Console" panose="020B0609040504020204" pitchFamily="49" charset="0"/>
              </a:rPr>
              <a:t>EventLog</a:t>
            </a:r>
            <a:r>
              <a:rPr lang="en-US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 Security |` </a:t>
            </a:r>
            <a:br>
              <a:rPr lang="en-US" sz="2000" dirty="0">
                <a:solidFill>
                  <a:schemeClr val="tx2"/>
                </a:solidFill>
                <a:latin typeface="Lucida Console" panose="020B0609040504020204" pitchFamily="49" charset="0"/>
              </a:rPr>
            </a:br>
            <a:r>
              <a:rPr lang="en-US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	where {`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		$_.</a:t>
            </a:r>
            <a:r>
              <a:rPr lang="en-US" sz="2000" dirty="0" err="1">
                <a:solidFill>
                  <a:schemeClr val="tx2"/>
                </a:solidFill>
                <a:latin typeface="Lucida Console" panose="020B0609040504020204" pitchFamily="49" charset="0"/>
              </a:rPr>
              <a:t>eventID</a:t>
            </a:r>
            <a:r>
              <a:rPr lang="en-US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 -eq 4624 -and `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		$_.message -match "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\w+</a:t>
            </a:r>
            <a:r>
              <a:rPr lang="en-US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-GGB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\</a:t>
            </a:r>
            <a:r>
              <a:rPr lang="en-US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$“</a:t>
            </a:r>
            <a:br>
              <a:rPr lang="en-US" sz="2000" dirty="0">
                <a:solidFill>
                  <a:schemeClr val="tx2"/>
                </a:solidFill>
                <a:latin typeface="Lucida Console" panose="020B0609040504020204" pitchFamily="49" charset="0"/>
              </a:rPr>
            </a:br>
            <a:r>
              <a:rPr lang="en-US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	} | more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6153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003AB-7C80-474F-90F1-26D11B72B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-match</a:t>
            </a:r>
            <a:r>
              <a:rPr lang="en-US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F26BE-169D-4F48-82D0-9B929C76A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err="1">
                <a:solidFill>
                  <a:schemeClr val="tx2"/>
                </a:solidFill>
                <a:latin typeface="Lucida Console" panose="020B0609040504020204" pitchFamily="49" charset="0"/>
              </a:rPr>
              <a:t>gci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 | where {$_.name -match 'File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\d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'}</a:t>
            </a:r>
          </a:p>
          <a:p>
            <a:pPr lvl="1"/>
            <a:r>
              <a:rPr lang="en-US" dirty="0"/>
              <a:t>Matches files with and word characters followed by a number (but no spaces)</a:t>
            </a:r>
          </a:p>
          <a:p>
            <a:r>
              <a:rPr lang="en-US" dirty="0" err="1">
                <a:solidFill>
                  <a:schemeClr val="tx2"/>
                </a:solidFill>
                <a:latin typeface="Lucida Console" panose="020B0609040504020204" pitchFamily="49" charset="0"/>
              </a:rPr>
              <a:t>gci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 | where {$_.name -match ‘File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\s\d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'}</a:t>
            </a:r>
          </a:p>
          <a:p>
            <a:pPr lvl="1"/>
            <a:r>
              <a:rPr lang="en-US" dirty="0"/>
              <a:t>Matches files with and word characters followed by 3 numbers separated by a space</a:t>
            </a:r>
          </a:p>
          <a:p>
            <a:r>
              <a:rPr lang="en-US" dirty="0" err="1">
                <a:solidFill>
                  <a:schemeClr val="tx2"/>
                </a:solidFill>
                <a:latin typeface="Lucida Console" panose="020B0609040504020204" pitchFamily="49" charset="0"/>
              </a:rPr>
              <a:t>gci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 | where {$_.name -match 'File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\s?\d{1,3}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'}</a:t>
            </a:r>
          </a:p>
          <a:p>
            <a:pPr lvl="1"/>
            <a:r>
              <a:rPr lang="en-US" dirty="0"/>
              <a:t>Matches a Non-character word followed by 3 numbers (can be separated by a space or not)</a:t>
            </a:r>
          </a:p>
          <a:p>
            <a:r>
              <a:rPr lang="en-US" dirty="0" err="1">
                <a:solidFill>
                  <a:schemeClr val="tx2"/>
                </a:solidFill>
                <a:latin typeface="Lucida Console" panose="020B0609040504020204" pitchFamily="49" charset="0"/>
              </a:rPr>
              <a:t>gci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 | where {$_.name -match '-'}</a:t>
            </a:r>
          </a:p>
          <a:p>
            <a:pPr lvl="1"/>
            <a:r>
              <a:rPr lang="en-US" dirty="0"/>
              <a:t>Matches a file name that has a hyphen</a:t>
            </a:r>
          </a:p>
          <a:p>
            <a:r>
              <a:rPr lang="en-US" dirty="0" err="1">
                <a:solidFill>
                  <a:schemeClr val="tx2"/>
                </a:solidFill>
                <a:latin typeface="Lucida Console" panose="020B0609040504020204" pitchFamily="49" charset="0"/>
              </a:rPr>
              <a:t>gci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 | where {$_.name -match 'File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\d{1,2}\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.txt'}</a:t>
            </a:r>
          </a:p>
          <a:p>
            <a:pPr lvl="1"/>
            <a:r>
              <a:rPr lang="en-US" dirty="0"/>
              <a:t>Matches a file name that contains 'File' followed by 2 numbers, followed by '.txt'</a:t>
            </a:r>
          </a:p>
          <a:p>
            <a:r>
              <a:rPr lang="en-US" dirty="0" err="1">
                <a:solidFill>
                  <a:schemeClr val="tx2"/>
                </a:solidFill>
                <a:latin typeface="Lucida Console" panose="020B0609040504020204" pitchFamily="49" charset="0"/>
              </a:rPr>
              <a:t>gci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 | where {$_.name -match "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\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W</a:t>
            </a:r>
            <a:r>
              <a:rPr lang="en-US" dirty="0" err="1">
                <a:solidFill>
                  <a:schemeClr val="tx2"/>
                </a:solidFill>
                <a:latin typeface="Lucida Console" panose="020B0609040504020204" pitchFamily="49" charset="0"/>
              </a:rPr>
              <a:t>File</a:t>
            </a:r>
            <a:r>
              <a:rPr lang="en-US" dirty="0">
                <a:solidFill>
                  <a:schemeClr val="tx2"/>
                </a:solidFill>
                <a:latin typeface="Lucida Console" panose="020B0609040504020204" pitchFamily="49" charset="0"/>
              </a:rPr>
              <a:t>"}</a:t>
            </a:r>
          </a:p>
          <a:p>
            <a:pPr lvl="1"/>
            <a:r>
              <a:rPr lang="en-US" dirty="0"/>
              <a:t>Match any file with “file” in the name and is preceded by a non-character word.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3769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1071</TotalTime>
  <Words>2118</Words>
  <Application>Microsoft Office PowerPoint</Application>
  <PresentationFormat>Widescreen</PresentationFormat>
  <Paragraphs>201</Paragraphs>
  <Slides>26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Calibri Light</vt:lpstr>
      <vt:lpstr>Lucida Console</vt:lpstr>
      <vt:lpstr>Wingdings</vt:lpstr>
      <vt:lpstr>Office Theme</vt:lpstr>
      <vt:lpstr>Office Theme</vt:lpstr>
      <vt:lpstr>RegEx</vt:lpstr>
      <vt:lpstr>Regular Expressions (RegEx)</vt:lpstr>
      <vt:lpstr>What is RegEx and do I need it?</vt:lpstr>
      <vt:lpstr>The purpose of a Regular Expression</vt:lpstr>
      <vt:lpstr>As easy as I can make it…</vt:lpstr>
      <vt:lpstr>Meet your match…</vt:lpstr>
      <vt:lpstr>Types of RegEx</vt:lpstr>
      <vt:lpstr>Character literals</vt:lpstr>
      <vt:lpstr>Character groups</vt:lpstr>
      <vt:lpstr>Character ranges</vt:lpstr>
      <vt:lpstr>Numbers</vt:lpstr>
      <vt:lpstr>Word characters</vt:lpstr>
      <vt:lpstr>Wildcards</vt:lpstr>
      <vt:lpstr>Whitespace</vt:lpstr>
      <vt:lpstr>Quantifiers</vt:lpstr>
      <vt:lpstr>Quantifiers</vt:lpstr>
      <vt:lpstr>Quantifiers</vt:lpstr>
      <vt:lpstr>Quantifiers</vt:lpstr>
      <vt:lpstr>Quantifiers</vt:lpstr>
      <vt:lpstr>Anchors</vt:lpstr>
      <vt:lpstr>Escaping characters</vt:lpstr>
      <vt:lpstr>Escaping characters</vt:lpstr>
      <vt:lpstr>Where do I use these?</vt:lpstr>
      <vt:lpstr>Select-String</vt:lpstr>
      <vt:lpstr>Using -match</vt:lpstr>
      <vt:lpstr>More -match examples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Scripting</dc:title>
  <dc:creator>Geoffrey Beers</dc:creator>
  <cp:lastModifiedBy>Conklin, Gar (NBCC)</cp:lastModifiedBy>
  <cp:revision>5</cp:revision>
  <dcterms:created xsi:type="dcterms:W3CDTF">2022-02-06T18:06:30Z</dcterms:created>
  <dcterms:modified xsi:type="dcterms:W3CDTF">2024-02-06T14:11:23Z</dcterms:modified>
</cp:coreProperties>
</file>